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4" r:id="rId1"/>
  </p:sldMasterIdLst>
  <p:notesMasterIdLst>
    <p:notesMasterId r:id="rId32"/>
  </p:notesMasterIdLst>
  <p:sldIdLst>
    <p:sldId id="693" r:id="rId2"/>
    <p:sldId id="269" r:id="rId3"/>
    <p:sldId id="785" r:id="rId4"/>
    <p:sldId id="717" r:id="rId5"/>
    <p:sldId id="264" r:id="rId6"/>
    <p:sldId id="707" r:id="rId7"/>
    <p:sldId id="701" r:id="rId8"/>
    <p:sldId id="781" r:id="rId9"/>
    <p:sldId id="780" r:id="rId10"/>
    <p:sldId id="764" r:id="rId11"/>
    <p:sldId id="765" r:id="rId12"/>
    <p:sldId id="766" r:id="rId13"/>
    <p:sldId id="709" r:id="rId14"/>
    <p:sldId id="592" r:id="rId15"/>
    <p:sldId id="719" r:id="rId16"/>
    <p:sldId id="773" r:id="rId17"/>
    <p:sldId id="690" r:id="rId18"/>
    <p:sldId id="776" r:id="rId19"/>
    <p:sldId id="782" r:id="rId20"/>
    <p:sldId id="779" r:id="rId21"/>
    <p:sldId id="783" r:id="rId22"/>
    <p:sldId id="686" r:id="rId23"/>
    <p:sldId id="750" r:id="rId24"/>
    <p:sldId id="772" r:id="rId25"/>
    <p:sldId id="638" r:id="rId26"/>
    <p:sldId id="694" r:id="rId27"/>
    <p:sldId id="774" r:id="rId28"/>
    <p:sldId id="784" r:id="rId29"/>
    <p:sldId id="585" r:id="rId30"/>
    <p:sldId id="287"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5828"/>
    <a:srgbClr val="00AEBB"/>
    <a:srgbClr val="0281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707EDB-31B3-49B3-B2AB-9436DD1B35FD}" v="1" dt="2026-10-15T12:00:43.2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151"/>
    <p:restoredTop sz="72766"/>
  </p:normalViewPr>
  <p:slideViewPr>
    <p:cSldViewPr snapToGrid="0">
      <p:cViewPr varScale="1">
        <p:scale>
          <a:sx n="116" d="100"/>
          <a:sy n="116" d="100"/>
        </p:scale>
        <p:origin x="512" y="184"/>
      </p:cViewPr>
      <p:guideLst>
        <p:guide orient="horz" pos="1620"/>
        <p:guide pos="288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lavov Vladimir (BD/TOA-IDE1 C/IDS1 BD/CSO)" userId="ef683b1b-b0e7-4093-9bed-63b7a5ba9ba0" providerId="ADAL" clId="{D2D78733-369D-4EA0-B5A2-72180F30D1BC}"/>
    <pc:docChg chg="custSel addSld delSld modSld">
      <pc:chgData name="Slavov Vladimir (BD/TOA-IDE1 C/IDS1 BD/CSO)" userId="ef683b1b-b0e7-4093-9bed-63b7a5ba9ba0" providerId="ADAL" clId="{D2D78733-369D-4EA0-B5A2-72180F30D1BC}" dt="2026-10-15T12:00:52.247" v="2" actId="47"/>
      <pc:docMkLst>
        <pc:docMk/>
      </pc:docMkLst>
      <pc:sldChg chg="del">
        <pc:chgData name="Slavov Vladimir (BD/TOA-IDE1 C/IDS1 BD/CSO)" userId="ef683b1b-b0e7-4093-9bed-63b7a5ba9ba0" providerId="ADAL" clId="{D2D78733-369D-4EA0-B5A2-72180F30D1BC}" dt="2026-10-15T12:00:52.247" v="2" actId="47"/>
        <pc:sldMkLst>
          <pc:docMk/>
          <pc:sldMk cId="2836657683" sldId="493"/>
        </pc:sldMkLst>
      </pc:sldChg>
      <pc:sldChg chg="modSp mod">
        <pc:chgData name="Slavov Vladimir (BD/TOA-IDE1 C/IDS1 BD/CSO)" userId="ef683b1b-b0e7-4093-9bed-63b7a5ba9ba0" providerId="ADAL" clId="{D2D78733-369D-4EA0-B5A2-72180F30D1BC}" dt="2026-10-15T12:00:43.320" v="1" actId="27636"/>
        <pc:sldMkLst>
          <pc:docMk/>
          <pc:sldMk cId="1597066833" sldId="631"/>
        </pc:sldMkLst>
        <pc:spChg chg="mod">
          <ac:chgData name="Slavov Vladimir (BD/TOA-IDE1 C/IDS1 BD/CSO)" userId="ef683b1b-b0e7-4093-9bed-63b7a5ba9ba0" providerId="ADAL" clId="{D2D78733-369D-4EA0-B5A2-72180F30D1BC}" dt="2026-10-15T12:00:43.320" v="1" actId="27636"/>
          <ac:spMkLst>
            <pc:docMk/>
            <pc:sldMk cId="1597066833" sldId="631"/>
            <ac:spMk id="3" creationId="{FB34B2A6-2DB1-A361-876D-38F3EFDCB9C7}"/>
          </ac:spMkLst>
        </pc:spChg>
      </pc:sldChg>
      <pc:sldChg chg="add">
        <pc:chgData name="Slavov Vladimir (BD/TOA-IDE1 C/IDS1 BD/CSO)" userId="ef683b1b-b0e7-4093-9bed-63b7a5ba9ba0" providerId="ADAL" clId="{D2D78733-369D-4EA0-B5A2-72180F30D1BC}" dt="2026-10-15T12:00:43.260" v="0"/>
        <pc:sldMkLst>
          <pc:docMk/>
          <pc:sldMk cId="1196064098" sldId="7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100" b="0" i="0" u="none" strike="noStrike" cap="none" dirty="0">
                <a:solidFill>
                  <a:srgbClr val="000000"/>
                </a:solidFill>
                <a:effectLst/>
                <a:latin typeface="Arial"/>
                <a:ea typeface="Arial"/>
                <a:cs typeface="Arial"/>
                <a:sym typeface="Arial"/>
              </a:rPr>
              <a:t>Hello everyone. Welcome to the </a:t>
            </a:r>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Southeast Asia Work Group meeting. I’m Jimmie Wang. Thank you for joining us today.</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1549563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SG" sz="1100" b="0" i="0" u="none" strike="noStrike" cap="none" dirty="0">
                <a:solidFill>
                  <a:srgbClr val="000000"/>
                </a:solidFill>
                <a:effectLst/>
                <a:latin typeface="Arial"/>
                <a:ea typeface="Arial"/>
                <a:cs typeface="Arial"/>
                <a:sym typeface="Arial"/>
              </a:rPr>
              <a:t>Before we begin, please take a moment to review the Linux Foundation’s antitrust notice. Please follow the policy throughout our discussion.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02170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SG" dirty="0"/>
              <a:t>We’re pleased to have Mary Wang, Executive Director of the </a:t>
            </a:r>
            <a:r>
              <a:rPr lang="en-SG" dirty="0" err="1"/>
              <a:t>OpenChain</a:t>
            </a:r>
            <a:r>
              <a:rPr lang="en-SG" dirty="0"/>
              <a:t> Project, joining us today. Mary will give a short introduction before we begin.</a:t>
            </a:r>
          </a:p>
          <a:p>
            <a:endParaRPr lang="en-SG" dirty="0"/>
          </a:p>
          <a:p>
            <a:r>
              <a:rPr lang="en-SG" dirty="0"/>
              <a:t>Mary, thank you for joining us. Over to you!</a:t>
            </a:r>
          </a:p>
          <a:p>
            <a:endParaRPr lang="en-SG"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SG" dirty="0"/>
              <a:t>Thank you, Mary, for sharing your thoughts.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SG" sz="1100" b="0" i="0" u="none" strike="noStrike" cap="none" dirty="0">
              <a:solidFill>
                <a:srgbClr val="000000"/>
              </a:solidFill>
              <a:effectLst/>
              <a:latin typeface="Arial"/>
              <a:ea typeface="Arial"/>
              <a:cs typeface="Arial"/>
              <a:sym typeface="Arial"/>
            </a:endParaRPr>
          </a:p>
          <a:p>
            <a:r>
              <a:rPr lang="en-SG" dirty="0"/>
              <a:t>In my early conversations with local open source friends, I found that many are still getting to know </a:t>
            </a:r>
            <a:r>
              <a:rPr lang="en-SG" dirty="0" err="1"/>
              <a:t>OpenChain</a:t>
            </a:r>
            <a:r>
              <a:rPr lang="en-SG" dirty="0"/>
              <a:t>. So today, I’ll briefly introduce the project and share our initial plans for the Southeast Asia Work Group.</a:t>
            </a:r>
          </a:p>
          <a:p>
            <a:r>
              <a:rPr lang="en-SG" dirty="0"/>
              <a:t>Then we’ll open the discussion to hear your questions, local needs and ideas for collaboration.</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br>
              <a:rPr lang="en-SG" sz="1100" b="0" i="0" u="none" strike="noStrike" cap="none" dirty="0">
                <a:solidFill>
                  <a:srgbClr val="000000"/>
                </a:solidFill>
                <a:effectLst/>
                <a:latin typeface="Arial"/>
                <a:ea typeface="Arial"/>
                <a:cs typeface="Arial"/>
                <a:sym typeface="Arial"/>
              </a:rPr>
            </a:br>
            <a:endParaRPr lang="en-US" dirty="0"/>
          </a:p>
        </p:txBody>
      </p:sp>
    </p:spTree>
    <p:extLst>
      <p:ext uri="{BB962C8B-B14F-4D97-AF65-F5344CB8AC3E}">
        <p14:creationId xmlns:p14="http://schemas.microsoft.com/office/powerpoint/2010/main" val="2192098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SG" sz="1100" b="0" i="0" u="none" strike="noStrike" cap="none" dirty="0">
                <a:solidFill>
                  <a:srgbClr val="000000"/>
                </a:solidFill>
                <a:effectLst/>
                <a:latin typeface="Arial"/>
                <a:ea typeface="Arial"/>
                <a:cs typeface="Arial"/>
                <a:sym typeface="Arial"/>
              </a:rPr>
              <a:t>Let’s start with the problem </a:t>
            </a:r>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helps us address: how to build trust when software moves between teams and organizations.</a:t>
            </a:r>
          </a:p>
          <a:p>
            <a:endParaRPr lang="en-US" dirty="0"/>
          </a:p>
          <a:p>
            <a:br>
              <a:rPr lang="en-SG" sz="1100" b="0" i="0" u="none" strike="noStrike" cap="none" dirty="0">
                <a:solidFill>
                  <a:srgbClr val="000000"/>
                </a:solidFill>
                <a:effectLst/>
                <a:latin typeface="Arial"/>
                <a:ea typeface="Arial"/>
                <a:cs typeface="Arial"/>
                <a:sym typeface="Arial"/>
              </a:rPr>
            </a:br>
            <a:r>
              <a:rPr lang="en-SG" sz="1100" b="0" i="0" u="none" strike="noStrike" cap="none" dirty="0" err="1">
                <a:solidFill>
                  <a:srgbClr val="000000"/>
                </a:solidFill>
                <a:effectLst/>
                <a:latin typeface="Arial"/>
                <a:ea typeface="Arial"/>
                <a:cs typeface="Arial"/>
                <a:sym typeface="Arial"/>
              </a:rPr>
              <a:t>OpenChain’s</a:t>
            </a:r>
            <a:r>
              <a:rPr lang="en-SG" sz="1100" b="0" i="0" u="none" strike="noStrike" cap="none" dirty="0">
                <a:solidFill>
                  <a:srgbClr val="000000"/>
                </a:solidFill>
                <a:effectLst/>
                <a:latin typeface="Arial"/>
                <a:ea typeface="Arial"/>
                <a:cs typeface="Arial"/>
                <a:sym typeface="Arial"/>
              </a:rPr>
              <a:t> vision is a trusted supply chain. As a Linux Foundation project, it helps organizations establish clear processes for managing open source. Shared expectations can make collaboration easier and reduce repeated work.</a:t>
            </a:r>
          </a:p>
          <a:p>
            <a:endParaRPr lang="en-US" dirty="0"/>
          </a:p>
        </p:txBody>
      </p:sp>
    </p:spTree>
    <p:extLst>
      <p:ext uri="{BB962C8B-B14F-4D97-AF65-F5344CB8AC3E}">
        <p14:creationId xmlns:p14="http://schemas.microsoft.com/office/powerpoint/2010/main" val="3761697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44aaa0767c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44aaa0767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SG" sz="1100" b="0" i="0" u="none" strike="noStrike" cap="none" dirty="0">
                <a:solidFill>
                  <a:srgbClr val="000000"/>
                </a:solidFill>
                <a:effectLst/>
                <a:latin typeface="Arial"/>
                <a:ea typeface="Arial"/>
                <a:cs typeface="Arial"/>
                <a:sym typeface="Arial"/>
              </a:rPr>
              <a:t>We often picture a supply chain as a simple line: a supplier provides software, we build a product, and a customer receives it.</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SG" sz="1100" b="0" i="0" u="none" strike="noStrike" cap="none" dirty="0">
                <a:solidFill>
                  <a:srgbClr val="000000"/>
                </a:solidFill>
                <a:effectLst/>
                <a:latin typeface="Arial"/>
                <a:ea typeface="Arial"/>
                <a:cs typeface="Arial"/>
                <a:sym typeface="Arial"/>
              </a:rPr>
              <a:t>But each participant also depends on other software and organizations. Those dependencies add more connections than a simple chain can show.</a:t>
            </a:r>
          </a:p>
          <a:p>
            <a:endParaRPr lang="en-US" dirty="0"/>
          </a:p>
        </p:txBody>
      </p:sp>
    </p:spTree>
    <p:extLst>
      <p:ext uri="{BB962C8B-B14F-4D97-AF65-F5344CB8AC3E}">
        <p14:creationId xmlns:p14="http://schemas.microsoft.com/office/powerpoint/2010/main" val="3498127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44aaa0767c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44aaa0767c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SG" sz="1100" b="0" i="0" u="none" strike="noStrike" cap="none" dirty="0">
                <a:solidFill>
                  <a:srgbClr val="000000"/>
                </a:solidFill>
                <a:effectLst/>
                <a:latin typeface="Arial"/>
                <a:ea typeface="Arial"/>
                <a:cs typeface="Arial"/>
                <a:sym typeface="Arial"/>
              </a:rPr>
              <a:t>The real supply chain looks much more like this: a complex network of shared dependencies. A problem in one widely used component can create work for many downstream organizations.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837909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100" b="0" i="0" u="none" strike="noStrike" cap="none" dirty="0">
                <a:solidFill>
                  <a:srgbClr val="000000"/>
                </a:solidFill>
                <a:effectLst/>
                <a:latin typeface="Arial"/>
                <a:ea typeface="Arial"/>
                <a:cs typeface="Arial"/>
                <a:sym typeface="Arial"/>
              </a:rPr>
              <a:t>Two recent incidents show how far that impact can spread.</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The </a:t>
            </a:r>
            <a:r>
              <a:rPr lang="en-SG" sz="1100" b="0" i="0" u="none" strike="noStrike" cap="none" dirty="0" err="1">
                <a:solidFill>
                  <a:srgbClr val="000000"/>
                </a:solidFill>
                <a:effectLst/>
                <a:latin typeface="Arial"/>
                <a:ea typeface="Arial"/>
                <a:cs typeface="Arial"/>
                <a:sym typeface="Arial"/>
              </a:rPr>
              <a:t>eMudhra</a:t>
            </a:r>
            <a:r>
              <a:rPr lang="en-SG" sz="1100" b="0" i="0" u="none" strike="noStrike" cap="none" dirty="0">
                <a:solidFill>
                  <a:srgbClr val="000000"/>
                </a:solidFill>
                <a:effectLst/>
                <a:latin typeface="Arial"/>
                <a:ea typeface="Arial"/>
                <a:cs typeface="Arial"/>
                <a:sym typeface="Arial"/>
              </a:rPr>
              <a:t> incident involved weak private keys for eight intermediate certificate authorities. Clients still trusting those keys could accept forged HTTPS certificates. Responding required coordinated trust updates across browsers, operating systems and other software.</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On 21 October, PHP released fixes for two critical vulnerabilities that could allow remote code execution without authentication. Downstream maintainers needed to update runtime packages, while operators needed to update and restart affected services.</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Affected container and cloud images also need updates. The response reaches well beyond the original component, so knowing what we use and who is responsible matters.</a:t>
            </a:r>
          </a:p>
          <a:p>
            <a:endParaRPr lang="en-US" dirty="0"/>
          </a:p>
        </p:txBody>
      </p:sp>
    </p:spTree>
    <p:extLst>
      <p:ext uri="{BB962C8B-B14F-4D97-AF65-F5344CB8AC3E}">
        <p14:creationId xmlns:p14="http://schemas.microsoft.com/office/powerpoint/2010/main" val="3810907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44aaa0767c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144aaa0767c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SG" sz="1100" b="0" i="0" u="none" strike="noStrike" cap="none" dirty="0">
                <a:solidFill>
                  <a:srgbClr val="000000"/>
                </a:solidFill>
                <a:effectLst/>
                <a:latin typeface="Arial"/>
                <a:ea typeface="Arial"/>
                <a:cs typeface="Arial"/>
                <a:sym typeface="Arial"/>
              </a:rPr>
              <a:t>The report gives us a wider view. Among the codebases it </a:t>
            </a:r>
            <a:r>
              <a:rPr lang="en-SG" sz="1100" b="0" i="0" u="none" strike="noStrike" cap="none" dirty="0" err="1">
                <a:solidFill>
                  <a:srgbClr val="000000"/>
                </a:solidFill>
                <a:effectLst/>
                <a:latin typeface="Arial"/>
                <a:ea typeface="Arial"/>
                <a:cs typeface="Arial"/>
                <a:sym typeface="Arial"/>
              </a:rPr>
              <a:t>analyzed</a:t>
            </a:r>
            <a:r>
              <a:rPr lang="en-SG" sz="1100" b="0" i="0" u="none" strike="noStrike" cap="none" dirty="0">
                <a:solidFill>
                  <a:srgbClr val="000000"/>
                </a:solidFill>
                <a:effectLst/>
                <a:latin typeface="Arial"/>
                <a:ea typeface="Arial"/>
                <a:cs typeface="Arial"/>
                <a:sym typeface="Arial"/>
              </a:rPr>
              <a:t>, 98 percent used open source, 68 percent had license compliance issues, and 87 percent had security issues. These findings show why organizations need ongoing management of open source.</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1602608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Customers need confidence in how their suppliers manage open source. That includes understanding license obligations and having a process for responding to known vulnerabilities.</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3154157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Community projects emerged to address these shared challenges. They contribute different parts of the solution, including component information and organizational processes.</a:t>
            </a:r>
          </a:p>
          <a:p>
            <a:endParaRPr lang="en-US" dirty="0"/>
          </a:p>
        </p:txBody>
      </p:sp>
    </p:spTree>
    <p:extLst>
      <p:ext uri="{BB962C8B-B14F-4D97-AF65-F5344CB8AC3E}">
        <p14:creationId xmlns:p14="http://schemas.microsoft.com/office/powerpoint/2010/main" val="537716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starts by studying a problem and discussing it with the community. When useful, that work becomes a guide, a specification or a standard, with reference materials to help people apply it.</a:t>
            </a:r>
          </a:p>
          <a:p>
            <a:endParaRPr lang="en-US" dirty="0"/>
          </a:p>
        </p:txBody>
      </p:sp>
    </p:spTree>
    <p:extLst>
      <p:ext uri="{BB962C8B-B14F-4D97-AF65-F5344CB8AC3E}">
        <p14:creationId xmlns:p14="http://schemas.microsoft.com/office/powerpoint/2010/main" val="1888229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focuses on the processes an organization needs. It helps clarify responsibilities and where checks should happen. Organizations can choose tools and workflows that fit their own environment.</a:t>
            </a:r>
          </a:p>
          <a:p>
            <a:endParaRPr lang="en-US" dirty="0"/>
          </a:p>
        </p:txBody>
      </p:sp>
    </p:spTree>
    <p:extLst>
      <p:ext uri="{BB962C8B-B14F-4D97-AF65-F5344CB8AC3E}">
        <p14:creationId xmlns:p14="http://schemas.microsoft.com/office/powerpoint/2010/main" val="271749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has two core international standards. ISO/IEC 5230 covers open source license compliance. ISO/IEC 18974 covers open source security assurance, including processes for managing known vulnerabilities.</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Both help organizations establish repeatable processes. Conformance supports confidence in those processes, but it does not guarantee that a product has no vulnerabilities.</a:t>
            </a:r>
          </a:p>
          <a:p>
            <a:endParaRPr lang="en-US" dirty="0"/>
          </a:p>
        </p:txBody>
      </p:sp>
    </p:spTree>
    <p:extLst>
      <p:ext uri="{BB962C8B-B14F-4D97-AF65-F5344CB8AC3E}">
        <p14:creationId xmlns:p14="http://schemas.microsoft.com/office/powerpoint/2010/main" val="3026425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Organizations can use free policy templates, training materials and self-certification checklists. The reference library also includes supplier education and webinars, so teams have materials to help them get started.</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538774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The standards provide a common baseline. The reference materials support implementation, and the community offers a place to ask questions and learn from others’ experience.</a:t>
            </a:r>
          </a:p>
          <a:p>
            <a:endParaRPr lang="en-US" dirty="0"/>
          </a:p>
        </p:txBody>
      </p:sp>
    </p:spTree>
    <p:extLst>
      <p:ext uri="{BB962C8B-B14F-4D97-AF65-F5344CB8AC3E}">
        <p14:creationId xmlns:p14="http://schemas.microsoft.com/office/powerpoint/2010/main" val="2530454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Let’s look at how this work is developing, especially around AI, regulation and SBOMs.</a:t>
            </a:r>
          </a:p>
          <a:p>
            <a:endParaRPr lang="en-US" dirty="0"/>
          </a:p>
        </p:txBody>
      </p:sp>
    </p:spTree>
    <p:extLst>
      <p:ext uri="{BB962C8B-B14F-4D97-AF65-F5344CB8AC3E}">
        <p14:creationId xmlns:p14="http://schemas.microsoft.com/office/powerpoint/2010/main" val="1389705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released version 1.0 of its AI SBOM Compliance Guide in October 2025. It identifies key process points for managing AI compliance in the supply chain. This gives organizations a starting point for discussing responsibilities and the information they need to maintain.</a:t>
            </a:r>
          </a:p>
          <a:p>
            <a:endParaRPr lang="en-US" dirty="0"/>
          </a:p>
        </p:txBody>
      </p:sp>
    </p:spTree>
    <p:extLst>
      <p:ext uri="{BB962C8B-B14F-4D97-AF65-F5344CB8AC3E}">
        <p14:creationId xmlns:p14="http://schemas.microsoft.com/office/powerpoint/2010/main" val="1194151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released the CRA Requirements and Checklist 1.0 on 11 September 2026. It supports preparation for the EU Cyber Resilience Act’s reporting obligations, which began applying on that date. The main obligations apply from December 2027.</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The checklist builds on familiar practices, including keeping verification records and assigning responsibilities.</a:t>
            </a:r>
          </a:p>
          <a:p>
            <a:endParaRPr lang="en-US" dirty="0"/>
          </a:p>
        </p:txBody>
      </p:sp>
    </p:spTree>
    <p:extLst>
      <p:ext uri="{BB962C8B-B14F-4D97-AF65-F5344CB8AC3E}">
        <p14:creationId xmlns:p14="http://schemas.microsoft.com/office/powerpoint/2010/main" val="2548732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SBOM means Software Bill of Materials. Its value depends on whether the information is useful to the people receiving it.</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The Telco SBOM Guide reached version 1.1 in 2025. This month, the Automotive SBOM Framework 1.0 added guidance for creating and sharing SBOM information across automotive supply chains. These efforts bring industry experience into shared guidance.</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42575192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Project 2.0 points to the project’s next stage. The discussion brings together established compliance work with emerging needs around automotive SBOMs, generative AI and the CRA.</a:t>
            </a:r>
          </a:p>
          <a:p>
            <a:endParaRPr lang="en-US" dirty="0"/>
          </a:p>
        </p:txBody>
      </p:sp>
    </p:spTree>
    <p:extLst>
      <p:ext uri="{BB962C8B-B14F-4D97-AF65-F5344CB8AC3E}">
        <p14:creationId xmlns:p14="http://schemas.microsoft.com/office/powerpoint/2010/main" val="2044202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Organizations have support as they put these ideas into practice. Let’s briefly look at the people and services around the project.</a:t>
            </a:r>
          </a:p>
          <a:p>
            <a:endParaRPr lang="en-US" dirty="0"/>
          </a:p>
        </p:txBody>
      </p:sp>
    </p:spTree>
    <p:extLst>
      <p:ext uri="{BB962C8B-B14F-4D97-AF65-F5344CB8AC3E}">
        <p14:creationId xmlns:p14="http://schemas.microsoft.com/office/powerpoint/2010/main" val="20710366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e62ad20c76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2e62ad20c76_0_1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 has regional groups, industry groups and groups focused on particular topics. Southeast Asia provides a local entry point into this wider community. We can bring regional questions to global discussions and share what we learn locally.</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555642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err="1">
                <a:solidFill>
                  <a:srgbClr val="000000"/>
                </a:solidFill>
                <a:effectLst/>
                <a:latin typeface="Arial"/>
                <a:ea typeface="Arial"/>
                <a:cs typeface="Arial"/>
                <a:sym typeface="Arial"/>
              </a:rPr>
              <a:t>OpenChain’s</a:t>
            </a:r>
            <a:r>
              <a:rPr lang="en-SG" sz="1100" b="0" i="0" u="none" strike="noStrike" cap="none" dirty="0">
                <a:solidFill>
                  <a:srgbClr val="000000"/>
                </a:solidFill>
                <a:effectLst/>
                <a:latin typeface="Arial"/>
                <a:ea typeface="Arial"/>
                <a:cs typeface="Arial"/>
                <a:sym typeface="Arial"/>
              </a:rPr>
              <a:t> ambassadors help people connect with the project. They extend the community’s reach and help introduce its work to new audiences.</a:t>
            </a:r>
          </a:p>
          <a:p>
            <a:endParaRPr lang="en-US" dirty="0"/>
          </a:p>
        </p:txBody>
      </p:sp>
    </p:spTree>
    <p:extLst>
      <p:ext uri="{BB962C8B-B14F-4D97-AF65-F5344CB8AC3E}">
        <p14:creationId xmlns:p14="http://schemas.microsoft.com/office/powerpoint/2010/main" val="35294151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Commercial support is also available, including tooling, consulting and third-party certification. Organizations can choose the support that matches their needs and internal capabilities.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589356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The community grows through the people who participate. Questions, feedback and implementation experience all help shape its work.</a:t>
            </a:r>
          </a:p>
          <a:p>
            <a:endParaRPr lang="en-US" dirty="0"/>
          </a:p>
        </p:txBody>
      </p:sp>
    </p:spTree>
    <p:extLst>
      <p:ext uri="{BB962C8B-B14F-4D97-AF65-F5344CB8AC3E}">
        <p14:creationId xmlns:p14="http://schemas.microsoft.com/office/powerpoint/2010/main" val="16840991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You do not need to be an expert to join. You can start by listening, asking a question or sharing a challenge from your own work.</a:t>
            </a:r>
          </a:p>
          <a:p>
            <a:endParaRPr lang="en-US" dirty="0"/>
          </a:p>
        </p:txBody>
      </p:sp>
    </p:spTree>
    <p:extLst>
      <p:ext uri="{BB962C8B-B14F-4D97-AF65-F5344CB8AC3E}">
        <p14:creationId xmlns:p14="http://schemas.microsoft.com/office/powerpoint/2010/main" val="31626796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For Southeast Asia, we’ll begin with monthly calls and relationships with local partners. Our planned meeting time is the fourth Thursday of each month, from 8 to 9 p.m. Singapore time.</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We also want to join regional events and organize local meetups with partners. These can help us understand local needs and learn from organizations already applying </a:t>
            </a:r>
            <a:r>
              <a:rPr lang="en-SG" sz="1100" b="0" i="0" u="none" strike="noStrike" cap="none" dirty="0" err="1">
                <a:solidFill>
                  <a:srgbClr val="000000"/>
                </a:solidFill>
                <a:effectLst/>
                <a:latin typeface="Arial"/>
                <a:ea typeface="Arial"/>
                <a:cs typeface="Arial"/>
                <a:sym typeface="Arial"/>
              </a:rPr>
              <a:t>OpenChain</a:t>
            </a:r>
            <a:r>
              <a:rPr lang="en-SG" sz="1100" b="0" i="0" u="none" strike="noStrike" cap="none" dirty="0">
                <a:solidFill>
                  <a:srgbClr val="000000"/>
                </a:solidFill>
                <a:effectLst/>
                <a:latin typeface="Arial"/>
                <a:ea typeface="Arial"/>
                <a:cs typeface="Arial"/>
                <a:sym typeface="Arial"/>
              </a:rPr>
              <a:t>.</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Our collaboration with the global community can explore three areas: regional regulatory needs, drawing on the EU CRA Checklist</a:t>
            </a:r>
            <a:r>
              <a:rPr lang="zh-CN" altLang="en-US" sz="1100" b="0" i="0" u="none" strike="noStrike" cap="none" dirty="0">
                <a:solidFill>
                  <a:srgbClr val="000000"/>
                </a:solidFill>
                <a:effectLst/>
                <a:latin typeface="Arial"/>
                <a:ea typeface="Arial"/>
                <a:cs typeface="Arial"/>
                <a:sym typeface="Arial"/>
              </a:rPr>
              <a:t>， </a:t>
            </a:r>
            <a:r>
              <a:rPr lang="en-SG" sz="1100" b="0" i="0" u="none" strike="noStrike" cap="none" dirty="0">
                <a:solidFill>
                  <a:srgbClr val="000000"/>
                </a:solidFill>
                <a:effectLst/>
                <a:latin typeface="Arial"/>
                <a:ea typeface="Arial"/>
                <a:cs typeface="Arial"/>
                <a:sym typeface="Arial"/>
              </a:rPr>
              <a:t>Cybersecurity Act</a:t>
            </a:r>
            <a:r>
              <a:rPr lang="zh-CN" altLang="en-US" sz="1100" b="0" i="0" u="none" strike="noStrike" cap="none" dirty="0">
                <a:solidFill>
                  <a:srgbClr val="000000"/>
                </a:solidFill>
                <a:effectLst/>
                <a:latin typeface="Arial"/>
                <a:ea typeface="Arial"/>
                <a:cs typeface="Arial"/>
                <a:sym typeface="Arial"/>
              </a:rPr>
              <a:t> </a:t>
            </a:r>
            <a:r>
              <a:rPr lang="en-US" altLang="zh-CN" sz="1100" b="0" i="0" u="none" strike="noStrike" cap="none" dirty="0">
                <a:solidFill>
                  <a:srgbClr val="000000"/>
                </a:solidFill>
                <a:effectLst/>
                <a:latin typeface="Arial"/>
                <a:ea typeface="Arial"/>
                <a:cs typeface="Arial"/>
                <a:sym typeface="Arial"/>
              </a:rPr>
              <a:t>in</a:t>
            </a:r>
            <a:r>
              <a:rPr lang="zh-CN" altLang="en-US" sz="1100" b="0" i="0" u="none" strike="noStrike" cap="none" dirty="0">
                <a:solidFill>
                  <a:srgbClr val="000000"/>
                </a:solidFill>
                <a:effectLst/>
                <a:latin typeface="Arial"/>
                <a:ea typeface="Arial"/>
                <a:cs typeface="Arial"/>
                <a:sym typeface="Arial"/>
              </a:rPr>
              <a:t> </a:t>
            </a:r>
            <a:r>
              <a:rPr lang="en-US" altLang="zh-CN" sz="1100" b="0" i="0" u="none" strike="noStrike" cap="none" dirty="0">
                <a:solidFill>
                  <a:srgbClr val="000000"/>
                </a:solidFill>
                <a:effectLst/>
                <a:latin typeface="Arial"/>
                <a:ea typeface="Arial"/>
                <a:cs typeface="Arial"/>
                <a:sym typeface="Arial"/>
              </a:rPr>
              <a:t>Singapore, Thailand and Vietnam</a:t>
            </a:r>
            <a:r>
              <a:rPr lang="en-SG" sz="1100" b="0" i="0" u="none" strike="noStrike" cap="none" dirty="0">
                <a:solidFill>
                  <a:srgbClr val="000000"/>
                </a:solidFill>
                <a:effectLst/>
                <a:latin typeface="Arial"/>
                <a:ea typeface="Arial"/>
                <a:cs typeface="Arial"/>
                <a:sym typeface="Arial"/>
              </a:rPr>
              <a:t>; multilingual resources and support; and industry implementation experience.</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We’d like your input on which of these would be most useful in your country or organization.</a:t>
            </a:r>
          </a:p>
          <a:p>
            <a:endParaRPr lang="en-US" dirty="0"/>
          </a:p>
        </p:txBody>
      </p:sp>
    </p:spTree>
    <p:extLst>
      <p:ext uri="{BB962C8B-B14F-4D97-AF65-F5344CB8AC3E}">
        <p14:creationId xmlns:p14="http://schemas.microsoft.com/office/powerpoint/2010/main" val="30463646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The links here take you to our meetings, regional mailing list and GitHub repository. Please join the mailing list to stay involved, and use these channels to suggest topics or share experience.</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3160368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r>
              <a:rPr lang="en-SG" sz="1100" b="0" i="0" u="none" strike="noStrike" cap="none" dirty="0">
                <a:solidFill>
                  <a:srgbClr val="000000"/>
                </a:solidFill>
                <a:effectLst/>
                <a:latin typeface="Arial"/>
                <a:ea typeface="Arial"/>
                <a:cs typeface="Arial"/>
                <a:sym typeface="Arial"/>
              </a:rPr>
              <a:t>Thank you. I’d like to open the discussion: what challenges are you seeing in your organization, and where could this regional group help? We’d also welcome ideas for local partners and future sessions.</a:t>
            </a:r>
          </a:p>
          <a:p>
            <a:br>
              <a:rPr lang="en-SG" sz="1100" b="0" i="0" u="none" strike="noStrike" cap="none" dirty="0">
                <a:solidFill>
                  <a:srgbClr val="000000"/>
                </a:solidFill>
                <a:effectLst/>
                <a:latin typeface="Arial"/>
                <a:ea typeface="Arial"/>
                <a:cs typeface="Arial"/>
                <a:sym typeface="Arial"/>
              </a:rPr>
            </a:br>
            <a:endParaRPr lang="en-SG"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185354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30" name="Google Shape;30;p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pic>
        <p:nvPicPr>
          <p:cNvPr id="31" name="Google Shape;31;p4"/>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32" name="Google Shape;32;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sp>
        <p:nvSpPr>
          <p:cNvPr id="33" name="Google Shape;33;p4"/>
          <p:cNvSpPr/>
          <p:nvPr/>
        </p:nvSpPr>
        <p:spPr>
          <a:xfrm>
            <a:off x="8208900" y="0"/>
            <a:ext cx="935100" cy="935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4" name="Google Shape;34;p4"/>
          <p:cNvPicPr preferRelativeResize="0"/>
          <p:nvPr/>
        </p:nvPicPr>
        <p:blipFill>
          <a:blip r:embed="rId3">
            <a:alphaModFix/>
          </a:blip>
          <a:stretch>
            <a:fillRect/>
          </a:stretch>
        </p:blipFill>
        <p:spPr>
          <a:xfrm>
            <a:off x="7273800" y="3350"/>
            <a:ext cx="935100" cy="928411"/>
          </a:xfrm>
          <a:prstGeom prst="rect">
            <a:avLst/>
          </a:prstGeom>
          <a:noFill/>
          <a:ln>
            <a:noFill/>
          </a:ln>
        </p:spPr>
      </p:pic>
      <p:pic>
        <p:nvPicPr>
          <p:cNvPr id="35" name="Google Shape;35;p4"/>
          <p:cNvPicPr preferRelativeResize="0"/>
          <p:nvPr/>
        </p:nvPicPr>
        <p:blipFill>
          <a:blip r:embed="rId4">
            <a:alphaModFix/>
          </a:blip>
          <a:stretch>
            <a:fillRect/>
          </a:stretch>
        </p:blipFill>
        <p:spPr>
          <a:xfrm>
            <a:off x="705588" y="4235030"/>
            <a:ext cx="1194674" cy="3936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2284576" y="4122678"/>
            <a:ext cx="1080274" cy="618303"/>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5572981" y="3566823"/>
            <a:ext cx="2641600" cy="14097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1">
  <p:cSld name="SECTION_HEADER_1">
    <p:bg>
      <p:bgPr>
        <a:solidFill>
          <a:schemeClr val="bg1"/>
        </a:solidFill>
        <a:effectLst/>
      </p:bgPr>
    </p:bg>
    <p:spTree>
      <p:nvGrpSpPr>
        <p:cNvPr id="1" name="Shape 55"/>
        <p:cNvGrpSpPr/>
        <p:nvPr/>
      </p:nvGrpSpPr>
      <p:grpSpPr>
        <a:xfrm>
          <a:off x="0" y="0"/>
          <a:ext cx="0" cy="0"/>
          <a:chOff x="0" y="0"/>
          <a:chExt cx="0" cy="0"/>
        </a:xfrm>
      </p:grpSpPr>
      <p:sp>
        <p:nvSpPr>
          <p:cNvPr id="56" name="Google Shape;56;p8"/>
          <p:cNvSpPr/>
          <p:nvPr/>
        </p:nvSpPr>
        <p:spPr>
          <a:xfrm rot="5400000" flipH="1">
            <a:off x="-12" y="412830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7;p8"/>
          <p:cNvSpPr txBox="1">
            <a:spLocks noGrp="1"/>
          </p:cNvSpPr>
          <p:nvPr>
            <p:ph type="title"/>
          </p:nvPr>
        </p:nvSpPr>
        <p:spPr>
          <a:xfrm>
            <a:off x="607150" y="2148722"/>
            <a:ext cx="8222100" cy="838800"/>
          </a:xfrm>
          <a:prstGeom prst="rect">
            <a:avLst/>
          </a:prstGeom>
        </p:spPr>
        <p:txBody>
          <a:bodyPr spcFirstLastPara="1" wrap="square" lIns="91425" tIns="91425" rIns="91425" bIns="91425" anchor="ctr" anchorCtr="0">
            <a:normAutofit/>
          </a:bodyPr>
          <a:lstStyle>
            <a:lvl1pPr lvl="0" rtl="0">
              <a:spcBef>
                <a:spcPts val="0"/>
              </a:spcBef>
              <a:spcAft>
                <a:spcPts val="0"/>
              </a:spcAft>
              <a:buSzPts val="4200"/>
              <a:buNone/>
              <a:defRPr sz="4200"/>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58" name="Google Shape;58;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pic>
        <p:nvPicPr>
          <p:cNvPr id="59" name="Google Shape;59;p8"/>
          <p:cNvPicPr preferRelativeResize="0"/>
          <p:nvPr/>
        </p:nvPicPr>
        <p:blipFill>
          <a:blip r:embed="rId2">
            <a:alphaModFix/>
          </a:blip>
          <a:stretch>
            <a:fillRect/>
          </a:stretch>
        </p:blipFill>
        <p:spPr>
          <a:xfrm>
            <a:off x="8155621" y="-1"/>
            <a:ext cx="988375" cy="988375"/>
          </a:xfrm>
          <a:prstGeom prst="rect">
            <a:avLst/>
          </a:prstGeom>
          <a:noFill/>
          <a:ln>
            <a:noFill/>
          </a:ln>
        </p:spPr>
      </p:pic>
      <p:pic>
        <p:nvPicPr>
          <p:cNvPr id="2" name="Picture 1">
            <a:extLst>
              <a:ext uri="{FF2B5EF4-FFF2-40B4-BE49-F238E27FC236}">
                <a16:creationId xmlns:a16="http://schemas.microsoft.com/office/drawing/2014/main" id="{59FB06FC-60F4-8BF5-9616-2928D77A42A0}"/>
              </a:ext>
            </a:extLst>
          </p:cNvPr>
          <p:cNvPicPr>
            <a:picLocks noChangeAspect="1"/>
          </p:cNvPicPr>
          <p:nvPr userDrawn="1"/>
        </p:nvPicPr>
        <p:blipFill>
          <a:blip r:embed="rId3"/>
          <a:stretch>
            <a:fillRect/>
          </a:stretch>
        </p:blipFill>
        <p:spPr>
          <a:xfrm>
            <a:off x="5572981" y="3566823"/>
            <a:ext cx="2641600" cy="14097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8432941" y="4431167"/>
            <a:ext cx="724200" cy="72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62;p9"/>
          <p:cNvSpPr/>
          <p:nvPr/>
        </p:nvSpPr>
        <p:spPr>
          <a:xfrm rot="10800000">
            <a:off x="7701526" y="4431200"/>
            <a:ext cx="731400" cy="730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63;p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4" name="Google Shape;64;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
        <p:nvSpPr>
          <p:cNvPr id="65" name="Google Shape;65;p9"/>
          <p:cNvSpPr/>
          <p:nvPr/>
        </p:nvSpPr>
        <p:spPr>
          <a:xfrm>
            <a:off x="8418600" y="0"/>
            <a:ext cx="725400" cy="725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9"/>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67" name="Google Shape;67;p9"/>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315843" y="4618434"/>
            <a:ext cx="673323" cy="38538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311700" y="410000"/>
            <a:ext cx="66141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0" name="Google Shape;70;p10"/>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1" name="Google Shape;71;p10"/>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2" name="Google Shape;72;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grpSp>
        <p:nvGrpSpPr>
          <p:cNvPr id="73" name="Google Shape;73;p10"/>
          <p:cNvGrpSpPr/>
          <p:nvPr/>
        </p:nvGrpSpPr>
        <p:grpSpPr>
          <a:xfrm>
            <a:off x="6971838" y="-12"/>
            <a:ext cx="2174881" cy="1450030"/>
            <a:chOff x="6098378" y="5"/>
            <a:chExt cx="3045625" cy="2030570"/>
          </a:xfrm>
        </p:grpSpPr>
        <p:sp>
          <p:nvSpPr>
            <p:cNvPr id="74" name="Google Shape;74;p10"/>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10"/>
            <p:cNvSpPr/>
            <p:nvPr/>
          </p:nvSpPr>
          <p:spPr>
            <a:xfrm flipH="1">
              <a:off x="7113463" y="5"/>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10"/>
            <p:cNvSpPr/>
            <p:nvPr/>
          </p:nvSpPr>
          <p:spPr>
            <a:xfrm rot="10800000">
              <a:off x="6098378" y="97"/>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10"/>
            <p:cNvSpPr/>
            <p:nvPr/>
          </p:nvSpPr>
          <p:spPr>
            <a:xfrm rot="10800000">
              <a:off x="8128789" y="101537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78" name="Google Shape;78;p10"/>
          <p:cNvPicPr preferRelativeResize="0"/>
          <p:nvPr/>
        </p:nvPicPr>
        <p:blipFill>
          <a:blip r:embed="rId2">
            <a:alphaModFix/>
          </a:blip>
          <a:stretch>
            <a:fillRect/>
          </a:stretch>
        </p:blipFill>
        <p:spPr>
          <a:xfrm>
            <a:off x="8675950" y="0"/>
            <a:ext cx="470775" cy="470775"/>
          </a:xfrm>
          <a:prstGeom prst="rect">
            <a:avLst/>
          </a:prstGeom>
          <a:noFill/>
          <a:ln>
            <a:noFill/>
          </a:ln>
        </p:spPr>
      </p:pic>
      <p:pic>
        <p:nvPicPr>
          <p:cNvPr id="79" name="Google Shape;79;p10"/>
          <p:cNvPicPr preferRelativeResize="0"/>
          <p:nvPr/>
        </p:nvPicPr>
        <p:blipFill>
          <a:blip r:embed="rId3">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4C3F07AF-469B-D3CF-D9C7-4D2528542FA3}"/>
              </a:ext>
            </a:extLst>
          </p:cNvPr>
          <p:cNvPicPr>
            <a:picLocks noChangeAspect="1"/>
          </p:cNvPicPr>
          <p:nvPr userDrawn="1"/>
        </p:nvPicPr>
        <p:blipFill>
          <a:blip r:embed="rId4"/>
          <a:stretch>
            <a:fillRect/>
          </a:stretch>
        </p:blipFill>
        <p:spPr>
          <a:xfrm>
            <a:off x="1315843" y="4618434"/>
            <a:ext cx="673323" cy="38538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xt Full Width">
  <p:cSld name="Text Full Width">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33750" y="179822"/>
            <a:ext cx="7486800" cy="699300"/>
          </a:xfrm>
          <a:prstGeom prst="rect">
            <a:avLst/>
          </a:prstGeom>
          <a:noFill/>
          <a:ln>
            <a:noFill/>
          </a:ln>
        </p:spPr>
        <p:txBody>
          <a:bodyPr spcFirstLastPara="1" wrap="square" lIns="68575" tIns="68575" rIns="68575" bIns="68575" anchor="ctr" anchorCtr="0">
            <a:noAutofit/>
          </a:bodyPr>
          <a:lstStyle>
            <a:lvl1pPr marL="0" marR="0" lvl="0" indent="0" algn="l" rtl="0">
              <a:lnSpc>
                <a:spcPct val="90000"/>
              </a:lnSpc>
              <a:spcBef>
                <a:spcPts val="0"/>
              </a:spcBef>
              <a:spcAft>
                <a:spcPts val="0"/>
              </a:spcAft>
              <a:buClr>
                <a:srgbClr val="168FDF"/>
              </a:buClr>
              <a:buSzPts val="2200"/>
              <a:buNone/>
              <a:defRPr sz="2400" i="0" u="none" strike="noStrike" cap="none">
                <a:solidFill>
                  <a:srgbClr val="003778"/>
                </a:solidFill>
              </a:defRPr>
            </a:lvl1pPr>
            <a:lvl2pPr lvl="1"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2pPr>
            <a:lvl3pPr lvl="2"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3pPr>
            <a:lvl4pPr lvl="3"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4pPr>
            <a:lvl5pPr lvl="4"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5pPr>
            <a:lvl6pPr lvl="5"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6pPr>
            <a:lvl7pPr lvl="6"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7pPr>
            <a:lvl8pPr lvl="7"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8pPr>
            <a:lvl9pPr lvl="8" indent="0">
              <a:spcBef>
                <a:spcPts val="0"/>
              </a:spcBef>
              <a:spcAft>
                <a:spcPts val="0"/>
              </a:spcAft>
              <a:buClr>
                <a:srgbClr val="168FDF"/>
              </a:buClr>
              <a:buSzPts val="2200"/>
              <a:buFont typeface="Arial"/>
              <a:buNone/>
              <a:defRPr>
                <a:solidFill>
                  <a:srgbClr val="168FDF"/>
                </a:solidFill>
                <a:latin typeface="Arial"/>
                <a:ea typeface="Arial"/>
                <a:cs typeface="Arial"/>
                <a:sym typeface="Arial"/>
              </a:defRPr>
            </a:lvl9pPr>
          </a:lstStyle>
          <a:p>
            <a:endParaRPr dirty="0"/>
          </a:p>
        </p:txBody>
      </p:sp>
      <p:sp>
        <p:nvSpPr>
          <p:cNvPr id="15" name="Google Shape;15;p3"/>
          <p:cNvSpPr txBox="1">
            <a:spLocks noGrp="1"/>
          </p:cNvSpPr>
          <p:nvPr>
            <p:ph type="body" idx="1"/>
          </p:nvPr>
        </p:nvSpPr>
        <p:spPr>
          <a:xfrm>
            <a:off x="233750" y="879125"/>
            <a:ext cx="8725500" cy="3980700"/>
          </a:xfrm>
          <a:prstGeom prst="rect">
            <a:avLst/>
          </a:prstGeom>
          <a:noFill/>
          <a:ln>
            <a:noFill/>
          </a:ln>
        </p:spPr>
        <p:txBody>
          <a:bodyPr spcFirstLastPara="1" wrap="square" lIns="91425" tIns="91425" rIns="91425" bIns="91425" anchor="t" anchorCtr="0">
            <a:noAutofit/>
          </a:bodyPr>
          <a:lstStyle>
            <a:lvl1pPr marL="457189" marR="0" lvl="0" indent="-342892" algn="l" rtl="0">
              <a:lnSpc>
                <a:spcPct val="100000"/>
              </a:lnSpc>
              <a:spcBef>
                <a:spcPts val="800"/>
              </a:spcBef>
              <a:spcAft>
                <a:spcPts val="0"/>
              </a:spcAft>
              <a:buClr>
                <a:srgbClr val="168FDF"/>
              </a:buClr>
              <a:buSzPts val="1800"/>
              <a:buFont typeface="Arial"/>
              <a:buChar char="●"/>
              <a:defRPr sz="1800" i="0" u="none" strike="noStrike" cap="none">
                <a:solidFill>
                  <a:srgbClr val="2F2F2F"/>
                </a:solidFill>
                <a:latin typeface="Arial"/>
                <a:ea typeface="Arial"/>
                <a:cs typeface="Arial"/>
                <a:sym typeface="Arial"/>
              </a:defRPr>
            </a:lvl1pPr>
            <a:lvl2pPr marL="914378" marR="0" lvl="1" indent="-336542" algn="l" rtl="0">
              <a:lnSpc>
                <a:spcPct val="100000"/>
              </a:lnSpc>
              <a:spcBef>
                <a:spcPts val="400"/>
              </a:spcBef>
              <a:spcAft>
                <a:spcPts val="0"/>
              </a:spcAft>
              <a:buClr>
                <a:srgbClr val="168FDF"/>
              </a:buClr>
              <a:buSzPts val="1700"/>
              <a:buFont typeface="Arial"/>
              <a:buChar char="○"/>
              <a:defRPr sz="1700" i="0" u="none" strike="noStrike" cap="none">
                <a:solidFill>
                  <a:srgbClr val="2F2F2F"/>
                </a:solidFill>
                <a:latin typeface="Arial"/>
                <a:ea typeface="Arial"/>
                <a:cs typeface="Arial"/>
                <a:sym typeface="Arial"/>
              </a:defRPr>
            </a:lvl2pPr>
            <a:lvl3pPr marL="1371566" marR="0" lvl="2" indent="-330192" algn="l" rtl="0">
              <a:lnSpc>
                <a:spcPct val="100000"/>
              </a:lnSpc>
              <a:spcBef>
                <a:spcPts val="400"/>
              </a:spcBef>
              <a:spcAft>
                <a:spcPts val="0"/>
              </a:spcAft>
              <a:buClr>
                <a:srgbClr val="168FDF"/>
              </a:buClr>
              <a:buSzPts val="1600"/>
              <a:buFont typeface="Arial"/>
              <a:buChar char="■"/>
              <a:defRPr sz="1600" i="0" u="none" strike="noStrike" cap="none">
                <a:solidFill>
                  <a:srgbClr val="2F2F2F"/>
                </a:solidFill>
                <a:latin typeface="Arial"/>
                <a:ea typeface="Arial"/>
                <a:cs typeface="Arial"/>
                <a:sym typeface="Arial"/>
              </a:defRPr>
            </a:lvl3pPr>
            <a:lvl4pPr marL="1828754" marR="0" lvl="3" indent="-323842" algn="l" rtl="0">
              <a:lnSpc>
                <a:spcPct val="100000"/>
              </a:lnSpc>
              <a:spcBef>
                <a:spcPts val="400"/>
              </a:spcBef>
              <a:spcAft>
                <a:spcPts val="0"/>
              </a:spcAft>
              <a:buClr>
                <a:srgbClr val="168FDF"/>
              </a:buClr>
              <a:buSzPts val="1500"/>
              <a:buFont typeface="Arial"/>
              <a:buChar char="●"/>
              <a:defRPr sz="1500" i="0" u="none" strike="noStrike" cap="none">
                <a:solidFill>
                  <a:srgbClr val="2F2F2F"/>
                </a:solidFill>
                <a:latin typeface="Arial"/>
                <a:ea typeface="Arial"/>
                <a:cs typeface="Arial"/>
                <a:sym typeface="Arial"/>
              </a:defRPr>
            </a:lvl4pPr>
            <a:lvl5pPr marL="2285943" marR="0" lvl="4" indent="-317492" algn="l" rtl="0">
              <a:lnSpc>
                <a:spcPct val="100000"/>
              </a:lnSpc>
              <a:spcBef>
                <a:spcPts val="400"/>
              </a:spcBef>
              <a:spcAft>
                <a:spcPts val="0"/>
              </a:spcAft>
              <a:buClr>
                <a:srgbClr val="168FDF"/>
              </a:buClr>
              <a:buSzPts val="1400"/>
              <a:buFont typeface="Arial"/>
              <a:buChar char="○"/>
              <a:defRPr i="0" u="none" strike="noStrike" cap="none">
                <a:solidFill>
                  <a:srgbClr val="2F2F2F"/>
                </a:solidFill>
                <a:latin typeface="Arial"/>
                <a:ea typeface="Arial"/>
                <a:cs typeface="Arial"/>
                <a:sym typeface="Arial"/>
              </a:defRPr>
            </a:lvl5pPr>
            <a:lvl6pPr marL="2743132" marR="0" lvl="5" indent="-317492" algn="l" rtl="0">
              <a:lnSpc>
                <a:spcPct val="90000"/>
              </a:lnSpc>
              <a:spcBef>
                <a:spcPts val="400"/>
              </a:spcBef>
              <a:spcAft>
                <a:spcPts val="0"/>
              </a:spcAft>
              <a:buClr>
                <a:schemeClr val="dk1"/>
              </a:buClr>
              <a:buSzPts val="1400"/>
              <a:buFont typeface="Arial"/>
              <a:buChar char="■"/>
              <a:defRPr sz="1400" i="0" u="none" strike="noStrike" cap="none">
                <a:solidFill>
                  <a:schemeClr val="dk1"/>
                </a:solidFill>
                <a:latin typeface="Arial"/>
                <a:ea typeface="Arial"/>
                <a:cs typeface="Arial"/>
                <a:sym typeface="Arial"/>
              </a:defRPr>
            </a:lvl6pPr>
            <a:lvl7pPr marL="3200320" marR="0" lvl="6" indent="-317492" algn="l" rtl="0">
              <a:lnSpc>
                <a:spcPct val="90000"/>
              </a:lnSpc>
              <a:spcBef>
                <a:spcPts val="400"/>
              </a:spcBef>
              <a:spcAft>
                <a:spcPts val="0"/>
              </a:spcAft>
              <a:buClr>
                <a:schemeClr val="dk1"/>
              </a:buClr>
              <a:buSzPts val="1400"/>
              <a:buFont typeface="Arial"/>
              <a:buChar char="●"/>
              <a:defRPr sz="1400" i="0" u="none" strike="noStrike" cap="none">
                <a:solidFill>
                  <a:schemeClr val="dk1"/>
                </a:solidFill>
                <a:latin typeface="Arial"/>
                <a:ea typeface="Arial"/>
                <a:cs typeface="Arial"/>
                <a:sym typeface="Arial"/>
              </a:defRPr>
            </a:lvl7pPr>
            <a:lvl8pPr marL="3657509" marR="0" lvl="7" indent="-317492" algn="l" rtl="0">
              <a:lnSpc>
                <a:spcPct val="90000"/>
              </a:lnSpc>
              <a:spcBef>
                <a:spcPts val="400"/>
              </a:spcBef>
              <a:spcAft>
                <a:spcPts val="0"/>
              </a:spcAft>
              <a:buClr>
                <a:schemeClr val="dk1"/>
              </a:buClr>
              <a:buSzPts val="1400"/>
              <a:buFont typeface="Arial"/>
              <a:buChar char="○"/>
              <a:defRPr sz="1400" i="0" u="none" strike="noStrike" cap="none">
                <a:solidFill>
                  <a:schemeClr val="dk1"/>
                </a:solidFill>
                <a:latin typeface="Arial"/>
                <a:ea typeface="Arial"/>
                <a:cs typeface="Arial"/>
                <a:sym typeface="Arial"/>
              </a:defRPr>
            </a:lvl8pPr>
            <a:lvl9pPr marL="4114697" marR="0" lvl="8" indent="-317492" algn="l" rtl="0">
              <a:lnSpc>
                <a:spcPct val="90000"/>
              </a:lnSpc>
              <a:spcBef>
                <a:spcPts val="400"/>
              </a:spcBef>
              <a:spcAft>
                <a:spcPts val="0"/>
              </a:spcAft>
              <a:buClr>
                <a:schemeClr val="dk1"/>
              </a:buClr>
              <a:buSzPts val="1400"/>
              <a:buFont typeface="Arial"/>
              <a:buChar char="■"/>
              <a:defRPr sz="1400" i="0" u="none" strike="noStrike" cap="none">
                <a:solidFill>
                  <a:schemeClr val="dk1"/>
                </a:solidFill>
                <a:latin typeface="Arial"/>
                <a:ea typeface="Arial"/>
                <a:cs typeface="Arial"/>
                <a:sym typeface="Arial"/>
              </a:defRPr>
            </a:lvl9pPr>
          </a:lstStyle>
          <a:p>
            <a:endParaRPr dirty="0"/>
          </a:p>
        </p:txBody>
      </p:sp>
      <p:pic>
        <p:nvPicPr>
          <p:cNvPr id="5" name="Picture 4">
            <a:extLst>
              <a:ext uri="{FF2B5EF4-FFF2-40B4-BE49-F238E27FC236}">
                <a16:creationId xmlns:a16="http://schemas.microsoft.com/office/drawing/2014/main" id="{3F33C0CA-AF97-314A-AA44-08F61CE32073}"/>
              </a:ext>
            </a:extLst>
          </p:cNvPr>
          <p:cNvPicPr>
            <a:picLocks noChangeAspect="1"/>
          </p:cNvPicPr>
          <p:nvPr userDrawn="1"/>
        </p:nvPicPr>
        <p:blipFill>
          <a:blip r:embed="rId2"/>
          <a:stretch>
            <a:fillRect/>
          </a:stretch>
        </p:blipFill>
        <p:spPr>
          <a:xfrm>
            <a:off x="7445941" y="89104"/>
            <a:ext cx="1539834" cy="881336"/>
          </a:xfrm>
          <a:prstGeom prst="rect">
            <a:avLst/>
          </a:prstGeom>
        </p:spPr>
      </p:pic>
      <p:pic>
        <p:nvPicPr>
          <p:cNvPr id="6" name="Google Shape;44;p18">
            <a:extLst>
              <a:ext uri="{FF2B5EF4-FFF2-40B4-BE49-F238E27FC236}">
                <a16:creationId xmlns:a16="http://schemas.microsoft.com/office/drawing/2014/main" id="{01DFF06F-6150-6AF4-A5D9-0F38FAD59327}"/>
              </a:ext>
            </a:extLst>
          </p:cNvPr>
          <p:cNvPicPr preferRelativeResize="0"/>
          <p:nvPr userDrawn="1"/>
        </p:nvPicPr>
        <p:blipFill rotWithShape="1">
          <a:blip r:embed="rId3">
            <a:alphaModFix/>
          </a:blip>
          <a:srcRect/>
          <a:stretch/>
        </p:blipFill>
        <p:spPr>
          <a:xfrm>
            <a:off x="190335" y="4651201"/>
            <a:ext cx="970780" cy="319850"/>
          </a:xfrm>
          <a:prstGeom prst="rect">
            <a:avLst/>
          </a:prstGeom>
          <a:noFill/>
          <a:ln>
            <a:noFill/>
          </a:ln>
        </p:spPr>
      </p:pic>
    </p:spTree>
    <p:extLst>
      <p:ext uri="{BB962C8B-B14F-4D97-AF65-F5344CB8AC3E}">
        <p14:creationId xmlns:p14="http://schemas.microsoft.com/office/powerpoint/2010/main" val="1723510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PDX General">
  <p:cSld name="SPDX General">
    <p:spTree>
      <p:nvGrpSpPr>
        <p:cNvPr id="1" name="Shape 59"/>
        <p:cNvGrpSpPr/>
        <p:nvPr/>
      </p:nvGrpSpPr>
      <p:grpSpPr>
        <a:xfrm>
          <a:off x="0" y="0"/>
          <a:ext cx="0" cy="0"/>
          <a:chOff x="0" y="0"/>
          <a:chExt cx="0" cy="0"/>
        </a:xfrm>
      </p:grpSpPr>
      <p:sp>
        <p:nvSpPr>
          <p:cNvPr id="60" name="Google Shape;60;p14"/>
          <p:cNvSpPr txBox="1">
            <a:spLocks noGrp="1"/>
          </p:cNvSpPr>
          <p:nvPr>
            <p:ph type="sldNum" idx="12"/>
          </p:nvPr>
        </p:nvSpPr>
        <p:spPr>
          <a:xfrm>
            <a:off x="8817154" y="4937760"/>
            <a:ext cx="275700" cy="205800"/>
          </a:xfrm>
          <a:prstGeom prst="rect">
            <a:avLst/>
          </a:prstGeom>
          <a:noFill/>
          <a:ln>
            <a:noFill/>
          </a:ln>
        </p:spPr>
        <p:txBody>
          <a:bodyPr spcFirstLastPara="1" wrap="square" lIns="68575" tIns="34275" rIns="68575" bIns="34275" anchor="ctr" anchorCtr="0">
            <a:normAutofit/>
          </a:bodyPr>
          <a:lstStyle>
            <a:lvl1pPr marL="0" marR="0" lvl="0" indent="0" algn="r" rtl="0">
              <a:spcBef>
                <a:spcPts val="0"/>
              </a:spcBef>
              <a:buNone/>
              <a:defRPr sz="800">
                <a:solidFill>
                  <a:srgbClr val="0094FF"/>
                </a:solidFill>
                <a:latin typeface="Archivo"/>
                <a:ea typeface="Archivo"/>
                <a:cs typeface="Archivo"/>
                <a:sym typeface="Archivo"/>
              </a:defRPr>
            </a:lvl1pPr>
            <a:lvl2pPr marL="0" marR="0" lvl="1" indent="0" algn="r" rtl="0">
              <a:spcBef>
                <a:spcPts val="0"/>
              </a:spcBef>
              <a:buNone/>
              <a:defRPr sz="800">
                <a:solidFill>
                  <a:srgbClr val="0094FF"/>
                </a:solidFill>
                <a:latin typeface="Archivo"/>
                <a:ea typeface="Archivo"/>
                <a:cs typeface="Archivo"/>
                <a:sym typeface="Archivo"/>
              </a:defRPr>
            </a:lvl2pPr>
            <a:lvl3pPr marL="0" marR="0" lvl="2" indent="0" algn="r" rtl="0">
              <a:spcBef>
                <a:spcPts val="0"/>
              </a:spcBef>
              <a:buNone/>
              <a:defRPr sz="800">
                <a:solidFill>
                  <a:srgbClr val="0094FF"/>
                </a:solidFill>
                <a:latin typeface="Archivo"/>
                <a:ea typeface="Archivo"/>
                <a:cs typeface="Archivo"/>
                <a:sym typeface="Archivo"/>
              </a:defRPr>
            </a:lvl3pPr>
            <a:lvl4pPr marL="0" marR="0" lvl="3" indent="0" algn="r" rtl="0">
              <a:spcBef>
                <a:spcPts val="0"/>
              </a:spcBef>
              <a:buNone/>
              <a:defRPr sz="800">
                <a:solidFill>
                  <a:srgbClr val="0094FF"/>
                </a:solidFill>
                <a:latin typeface="Archivo"/>
                <a:ea typeface="Archivo"/>
                <a:cs typeface="Archivo"/>
                <a:sym typeface="Archivo"/>
              </a:defRPr>
            </a:lvl4pPr>
            <a:lvl5pPr marL="0" marR="0" lvl="4" indent="0" algn="r" rtl="0">
              <a:spcBef>
                <a:spcPts val="0"/>
              </a:spcBef>
              <a:buNone/>
              <a:defRPr sz="800">
                <a:solidFill>
                  <a:srgbClr val="0094FF"/>
                </a:solidFill>
                <a:latin typeface="Archivo"/>
                <a:ea typeface="Archivo"/>
                <a:cs typeface="Archivo"/>
                <a:sym typeface="Archivo"/>
              </a:defRPr>
            </a:lvl5pPr>
            <a:lvl6pPr marL="0" marR="0" lvl="5" indent="0" algn="r" rtl="0">
              <a:spcBef>
                <a:spcPts val="0"/>
              </a:spcBef>
              <a:buNone/>
              <a:defRPr sz="800">
                <a:solidFill>
                  <a:srgbClr val="0094FF"/>
                </a:solidFill>
                <a:latin typeface="Archivo"/>
                <a:ea typeface="Archivo"/>
                <a:cs typeface="Archivo"/>
                <a:sym typeface="Archivo"/>
              </a:defRPr>
            </a:lvl6pPr>
            <a:lvl7pPr marL="0" marR="0" lvl="6" indent="0" algn="r" rtl="0">
              <a:spcBef>
                <a:spcPts val="0"/>
              </a:spcBef>
              <a:buNone/>
              <a:defRPr sz="800">
                <a:solidFill>
                  <a:srgbClr val="0094FF"/>
                </a:solidFill>
                <a:latin typeface="Archivo"/>
                <a:ea typeface="Archivo"/>
                <a:cs typeface="Archivo"/>
                <a:sym typeface="Archivo"/>
              </a:defRPr>
            </a:lvl7pPr>
            <a:lvl8pPr marL="0" marR="0" lvl="7" indent="0" algn="r" rtl="0">
              <a:spcBef>
                <a:spcPts val="0"/>
              </a:spcBef>
              <a:buNone/>
              <a:defRPr sz="800">
                <a:solidFill>
                  <a:srgbClr val="0094FF"/>
                </a:solidFill>
                <a:latin typeface="Archivo"/>
                <a:ea typeface="Archivo"/>
                <a:cs typeface="Archivo"/>
                <a:sym typeface="Archivo"/>
              </a:defRPr>
            </a:lvl8pPr>
            <a:lvl9pPr marL="0" marR="0" lvl="8" indent="0" algn="r" rtl="0">
              <a:spcBef>
                <a:spcPts val="0"/>
              </a:spcBef>
              <a:buNone/>
              <a:defRPr sz="800">
                <a:solidFill>
                  <a:srgbClr val="0094FF"/>
                </a:solidFill>
                <a:latin typeface="Archivo"/>
                <a:ea typeface="Archivo"/>
                <a:cs typeface="Archivo"/>
                <a:sym typeface="Archivo"/>
              </a:defRPr>
            </a:lvl9pPr>
          </a:lstStyle>
          <a:p>
            <a:pPr marL="0" lvl="0" indent="0" algn="r" rtl="0">
              <a:spcBef>
                <a:spcPts val="0"/>
              </a:spcBef>
              <a:spcAft>
                <a:spcPts val="0"/>
              </a:spcAft>
              <a:buNone/>
            </a:pPr>
            <a:r>
              <a:rPr lang="en-GB" dirty="0"/>
              <a:t>#</a:t>
            </a:r>
            <a:endParaRPr i="0" u="none" strike="noStrike" cap="none" dirty="0"/>
          </a:p>
        </p:txBody>
      </p:sp>
      <p:cxnSp>
        <p:nvCxnSpPr>
          <p:cNvPr id="61" name="Google Shape;61;p14"/>
          <p:cNvCxnSpPr/>
          <p:nvPr/>
        </p:nvCxnSpPr>
        <p:spPr>
          <a:xfrm flipH="1">
            <a:off x="162500" y="190900"/>
            <a:ext cx="9300" cy="4428300"/>
          </a:xfrm>
          <a:prstGeom prst="straightConnector1">
            <a:avLst/>
          </a:prstGeom>
          <a:noFill/>
          <a:ln w="9525" cap="flat" cmpd="sng">
            <a:solidFill>
              <a:srgbClr val="168FDF"/>
            </a:solidFill>
            <a:prstDash val="solid"/>
            <a:miter lim="8000"/>
            <a:headEnd type="none" w="sm" len="sm"/>
            <a:tailEnd type="none" w="sm" len="sm"/>
          </a:ln>
        </p:spPr>
      </p:cxnSp>
      <p:sp>
        <p:nvSpPr>
          <p:cNvPr id="62" name="Google Shape;62;p14"/>
          <p:cNvSpPr txBox="1">
            <a:spLocks noGrp="1"/>
          </p:cNvSpPr>
          <p:nvPr>
            <p:ph type="title"/>
          </p:nvPr>
        </p:nvSpPr>
        <p:spPr>
          <a:xfrm>
            <a:off x="268975" y="614300"/>
            <a:ext cx="6206100" cy="373200"/>
          </a:xfrm>
          <a:prstGeom prst="rect">
            <a:avLst/>
          </a:prstGeom>
          <a:noFill/>
          <a:ln>
            <a:noFill/>
          </a:ln>
        </p:spPr>
        <p:txBody>
          <a:bodyPr spcFirstLastPara="1" wrap="square" lIns="91425" tIns="91425" rIns="91425" bIns="91425" anchor="ctr" anchorCtr="0">
            <a:normAutofit/>
          </a:bodyPr>
          <a:lstStyle>
            <a:lvl1pPr marL="0" marR="0" lvl="0" indent="0" algn="l" rtl="0">
              <a:lnSpc>
                <a:spcPct val="90000"/>
              </a:lnSpc>
              <a:spcBef>
                <a:spcPts val="0"/>
              </a:spcBef>
              <a:spcAft>
                <a:spcPts val="0"/>
              </a:spcAft>
              <a:buClr>
                <a:srgbClr val="0094FF"/>
              </a:buClr>
              <a:buSzPts val="1800"/>
              <a:buFont typeface="Archivo Light"/>
              <a:buNone/>
              <a:defRPr sz="1800" i="0" u="none" strike="noStrike" cap="none">
                <a:solidFill>
                  <a:srgbClr val="0094FF"/>
                </a:solidFill>
                <a:latin typeface="Archivo Light"/>
                <a:ea typeface="Archivo Light"/>
                <a:cs typeface="Archivo Light"/>
                <a:sym typeface="Archivo Light"/>
              </a:defRPr>
            </a:lvl1pPr>
            <a:lvl2pPr lvl="1"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2pPr>
            <a:lvl3pPr lvl="2"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3pPr>
            <a:lvl4pPr lvl="3"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4pPr>
            <a:lvl5pPr lvl="4"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5pPr>
            <a:lvl6pPr lvl="5"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6pPr>
            <a:lvl7pPr lvl="6"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7pPr>
            <a:lvl8pPr lvl="7"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8pPr>
            <a:lvl9pPr lvl="8"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9pPr>
          </a:lstStyle>
          <a:p>
            <a:endParaRPr/>
          </a:p>
        </p:txBody>
      </p:sp>
      <p:sp>
        <p:nvSpPr>
          <p:cNvPr id="63" name="Google Shape;63;p14"/>
          <p:cNvSpPr txBox="1">
            <a:spLocks noGrp="1"/>
          </p:cNvSpPr>
          <p:nvPr>
            <p:ph type="title" idx="2"/>
          </p:nvPr>
        </p:nvSpPr>
        <p:spPr>
          <a:xfrm>
            <a:off x="268975" y="214599"/>
            <a:ext cx="7486800" cy="499500"/>
          </a:xfrm>
          <a:prstGeom prst="rect">
            <a:avLst/>
          </a:prstGeom>
          <a:noFill/>
          <a:ln>
            <a:noFill/>
          </a:ln>
        </p:spPr>
        <p:txBody>
          <a:bodyPr spcFirstLastPara="1" wrap="square" lIns="91425" tIns="91425" rIns="91425" bIns="91425" anchor="ctr" anchorCtr="0">
            <a:normAutofit/>
          </a:bodyPr>
          <a:lstStyle>
            <a:lvl1pPr marL="0" marR="0" lvl="0" indent="0" algn="l" rtl="0">
              <a:lnSpc>
                <a:spcPct val="90000"/>
              </a:lnSpc>
              <a:spcBef>
                <a:spcPts val="0"/>
              </a:spcBef>
              <a:spcAft>
                <a:spcPts val="0"/>
              </a:spcAft>
              <a:buClr>
                <a:srgbClr val="003778"/>
              </a:buClr>
              <a:buSzPts val="3000"/>
              <a:buFont typeface="Archivo"/>
              <a:buNone/>
              <a:defRPr sz="3000" i="0" u="none" strike="noStrike" cap="none">
                <a:solidFill>
                  <a:srgbClr val="003778"/>
                </a:solidFill>
                <a:latin typeface="Archivo"/>
                <a:ea typeface="Archivo"/>
                <a:cs typeface="Archivo"/>
                <a:sym typeface="Archivo"/>
              </a:defRPr>
            </a:lvl1pPr>
            <a:lvl2pPr lvl="1"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2pPr>
            <a:lvl3pPr lvl="2"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3pPr>
            <a:lvl4pPr lvl="3"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4pPr>
            <a:lvl5pPr lvl="4"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5pPr>
            <a:lvl6pPr lvl="5"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6pPr>
            <a:lvl7pPr lvl="6"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7pPr>
            <a:lvl8pPr lvl="7"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8pPr>
            <a:lvl9pPr lvl="8" indent="0" rtl="0">
              <a:spcBef>
                <a:spcPts val="0"/>
              </a:spcBef>
              <a:spcAft>
                <a:spcPts val="0"/>
              </a:spcAft>
              <a:buClr>
                <a:srgbClr val="168FDF"/>
              </a:buClr>
              <a:buSzPts val="2800"/>
              <a:buFont typeface="Arial"/>
              <a:buNone/>
              <a:defRPr>
                <a:solidFill>
                  <a:srgbClr val="168FDF"/>
                </a:solidFill>
                <a:latin typeface="Arial"/>
                <a:ea typeface="Arial"/>
                <a:cs typeface="Arial"/>
                <a:sym typeface="Arial"/>
              </a:defRPr>
            </a:lvl9pPr>
          </a:lstStyle>
          <a:p>
            <a:endParaRPr/>
          </a:p>
        </p:txBody>
      </p:sp>
      <p:pic>
        <p:nvPicPr>
          <p:cNvPr id="64" name="Google Shape;64;p14"/>
          <p:cNvPicPr preferRelativeResize="0"/>
          <p:nvPr/>
        </p:nvPicPr>
        <p:blipFill>
          <a:blip r:embed="rId2">
            <a:alphaModFix/>
          </a:blip>
          <a:stretch>
            <a:fillRect/>
          </a:stretch>
        </p:blipFill>
        <p:spPr>
          <a:xfrm>
            <a:off x="110500" y="4696825"/>
            <a:ext cx="1399400" cy="370525"/>
          </a:xfrm>
          <a:prstGeom prst="rect">
            <a:avLst/>
          </a:prstGeom>
          <a:noFill/>
          <a:ln>
            <a:noFill/>
          </a:ln>
        </p:spPr>
      </p:pic>
      <p:sp>
        <p:nvSpPr>
          <p:cNvPr id="65" name="Google Shape;65;p14"/>
          <p:cNvSpPr txBox="1">
            <a:spLocks noGrp="1"/>
          </p:cNvSpPr>
          <p:nvPr>
            <p:ph type="body" idx="1"/>
          </p:nvPr>
        </p:nvSpPr>
        <p:spPr>
          <a:xfrm>
            <a:off x="233750" y="1086650"/>
            <a:ext cx="8725500" cy="3534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00000"/>
              </a:lnSpc>
              <a:spcBef>
                <a:spcPts val="800"/>
              </a:spcBef>
              <a:spcAft>
                <a:spcPts val="0"/>
              </a:spcAft>
              <a:buClr>
                <a:srgbClr val="003778"/>
              </a:buClr>
              <a:buSzPts val="1800"/>
              <a:buFont typeface="Archivo"/>
              <a:buChar char="●"/>
              <a:defRPr sz="1800" i="0" u="none" strike="noStrike" cap="none">
                <a:solidFill>
                  <a:srgbClr val="003778"/>
                </a:solidFill>
                <a:latin typeface="Archivo"/>
                <a:ea typeface="Archivo"/>
                <a:cs typeface="Archivo"/>
                <a:sym typeface="Archivo"/>
              </a:defRPr>
            </a:lvl1pPr>
            <a:lvl2pPr marL="914400" marR="0" lvl="1" indent="-336550" algn="l" rtl="0">
              <a:lnSpc>
                <a:spcPct val="100000"/>
              </a:lnSpc>
              <a:spcBef>
                <a:spcPts val="1200"/>
              </a:spcBef>
              <a:spcAft>
                <a:spcPts val="0"/>
              </a:spcAft>
              <a:buClr>
                <a:srgbClr val="003778"/>
              </a:buClr>
              <a:buSzPts val="1700"/>
              <a:buFont typeface="Archivo ExtraLight"/>
              <a:buChar char="○"/>
              <a:defRPr sz="1700" i="0" u="none" strike="noStrike" cap="none">
                <a:solidFill>
                  <a:srgbClr val="003778"/>
                </a:solidFill>
                <a:latin typeface="Archivo ExtraLight"/>
                <a:ea typeface="Archivo ExtraLight"/>
                <a:cs typeface="Archivo ExtraLight"/>
                <a:sym typeface="Archivo ExtraLight"/>
              </a:defRPr>
            </a:lvl2pPr>
            <a:lvl3pPr marL="1371600" marR="0" lvl="2" indent="-330200" algn="l" rtl="0">
              <a:lnSpc>
                <a:spcPct val="100000"/>
              </a:lnSpc>
              <a:spcBef>
                <a:spcPts val="1200"/>
              </a:spcBef>
              <a:spcAft>
                <a:spcPts val="0"/>
              </a:spcAft>
              <a:buClr>
                <a:srgbClr val="003778"/>
              </a:buClr>
              <a:buSzPts val="1600"/>
              <a:buFont typeface="Archivo ExtraLight"/>
              <a:buChar char="𐩑"/>
              <a:defRPr sz="1600" i="0" u="none" strike="noStrike" cap="none">
                <a:solidFill>
                  <a:srgbClr val="003778"/>
                </a:solidFill>
                <a:latin typeface="Archivo ExtraLight"/>
                <a:ea typeface="Archivo ExtraLight"/>
                <a:cs typeface="Archivo ExtraLight"/>
                <a:sym typeface="Archivo ExtraLight"/>
              </a:defRPr>
            </a:lvl3pPr>
            <a:lvl4pPr marL="1828800" marR="0" lvl="3" indent="-323850" algn="l" rtl="0">
              <a:lnSpc>
                <a:spcPct val="100000"/>
              </a:lnSpc>
              <a:spcBef>
                <a:spcPts val="1200"/>
              </a:spcBef>
              <a:spcAft>
                <a:spcPts val="0"/>
              </a:spcAft>
              <a:buClr>
                <a:srgbClr val="003778"/>
              </a:buClr>
              <a:buSzPts val="1500"/>
              <a:buFont typeface="Archivo Light"/>
              <a:buChar char="▪"/>
              <a:defRPr sz="1500" i="0" u="none" strike="noStrike" cap="none">
                <a:solidFill>
                  <a:srgbClr val="003778"/>
                </a:solidFill>
                <a:latin typeface="Archivo Light"/>
                <a:ea typeface="Archivo Light"/>
                <a:cs typeface="Archivo Light"/>
                <a:sym typeface="Archivo Light"/>
              </a:defRPr>
            </a:lvl4pPr>
            <a:lvl5pPr marL="2286000" marR="0" lvl="4" indent="-317500" algn="l" rtl="0">
              <a:lnSpc>
                <a:spcPct val="100000"/>
              </a:lnSpc>
              <a:spcBef>
                <a:spcPts val="1200"/>
              </a:spcBef>
              <a:spcAft>
                <a:spcPts val="0"/>
              </a:spcAft>
              <a:buClr>
                <a:srgbClr val="003778"/>
              </a:buClr>
              <a:buSzPts val="1400"/>
              <a:buFont typeface="Archivo Light"/>
              <a:buChar char="➢"/>
              <a:defRPr i="0" u="none" strike="noStrike" cap="none">
                <a:solidFill>
                  <a:srgbClr val="003778"/>
                </a:solidFill>
                <a:latin typeface="Archivo Light"/>
                <a:ea typeface="Archivo Light"/>
                <a:cs typeface="Archivo Light"/>
                <a:sym typeface="Archivo Light"/>
              </a:defRPr>
            </a:lvl5pPr>
            <a:lvl6pPr marL="2743200" marR="0" lvl="5" indent="-317500" algn="l" rtl="0">
              <a:lnSpc>
                <a:spcPct val="90000"/>
              </a:lnSpc>
              <a:spcBef>
                <a:spcPts val="1200"/>
              </a:spcBef>
              <a:spcAft>
                <a:spcPts val="0"/>
              </a:spcAft>
              <a:buClr>
                <a:srgbClr val="003778"/>
              </a:buClr>
              <a:buSzPts val="1400"/>
              <a:buFont typeface="Archivo Light"/>
              <a:buChar char="■"/>
              <a:defRPr sz="1400" i="0" u="none" strike="noStrike" cap="none">
                <a:solidFill>
                  <a:srgbClr val="003778"/>
                </a:solidFill>
                <a:latin typeface="Archivo Light"/>
                <a:ea typeface="Archivo Light"/>
                <a:cs typeface="Archivo Light"/>
                <a:sym typeface="Archivo Light"/>
              </a:defRPr>
            </a:lvl6pPr>
            <a:lvl7pPr marL="3200400" marR="0" lvl="6" indent="-317500" algn="l" rtl="0">
              <a:lnSpc>
                <a:spcPct val="90000"/>
              </a:lnSpc>
              <a:spcBef>
                <a:spcPts val="1200"/>
              </a:spcBef>
              <a:spcAft>
                <a:spcPts val="0"/>
              </a:spcAft>
              <a:buClr>
                <a:srgbClr val="003778"/>
              </a:buClr>
              <a:buSzPts val="1400"/>
              <a:buFont typeface="Archivo Light"/>
              <a:buChar char="●"/>
              <a:defRPr sz="1400" i="0" u="none" strike="noStrike" cap="none">
                <a:solidFill>
                  <a:srgbClr val="003778"/>
                </a:solidFill>
                <a:latin typeface="Archivo Light"/>
                <a:ea typeface="Archivo Light"/>
                <a:cs typeface="Archivo Light"/>
                <a:sym typeface="Archivo Light"/>
              </a:defRPr>
            </a:lvl7pPr>
            <a:lvl8pPr marL="3657600" marR="0" lvl="7" indent="-317500" algn="l" rtl="0">
              <a:lnSpc>
                <a:spcPct val="90000"/>
              </a:lnSpc>
              <a:spcBef>
                <a:spcPts val="1200"/>
              </a:spcBef>
              <a:spcAft>
                <a:spcPts val="0"/>
              </a:spcAft>
              <a:buClr>
                <a:srgbClr val="003778"/>
              </a:buClr>
              <a:buSzPts val="1400"/>
              <a:buFont typeface="Archivo Light"/>
              <a:buChar char="○"/>
              <a:defRPr sz="1400" i="0" u="none" strike="noStrike" cap="none">
                <a:solidFill>
                  <a:srgbClr val="003778"/>
                </a:solidFill>
                <a:latin typeface="Archivo Light"/>
                <a:ea typeface="Archivo Light"/>
                <a:cs typeface="Archivo Light"/>
                <a:sym typeface="Archivo Light"/>
              </a:defRPr>
            </a:lvl8pPr>
            <a:lvl9pPr marL="4114800" marR="0" lvl="8" indent="-317500" algn="l" rtl="0">
              <a:lnSpc>
                <a:spcPct val="90000"/>
              </a:lnSpc>
              <a:spcBef>
                <a:spcPts val="1200"/>
              </a:spcBef>
              <a:spcAft>
                <a:spcPts val="1200"/>
              </a:spcAft>
              <a:buClr>
                <a:srgbClr val="003778"/>
              </a:buClr>
              <a:buSzPts val="1400"/>
              <a:buFont typeface="Archivo Light"/>
              <a:buChar char="⚬"/>
              <a:defRPr sz="1400" i="0" u="none" strike="noStrike" cap="none">
                <a:solidFill>
                  <a:srgbClr val="003778"/>
                </a:solidFill>
                <a:latin typeface="Archivo Light"/>
                <a:ea typeface="Archivo Light"/>
                <a:cs typeface="Archivo Light"/>
                <a:sym typeface="Archivo Light"/>
              </a:defRPr>
            </a:lvl9pPr>
          </a:lstStyle>
          <a:p>
            <a:endParaRPr/>
          </a:p>
        </p:txBody>
      </p:sp>
    </p:spTree>
    <p:extLst>
      <p:ext uri="{BB962C8B-B14F-4D97-AF65-F5344CB8AC3E}">
        <p14:creationId xmlns:p14="http://schemas.microsoft.com/office/powerpoint/2010/main" val="2569703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Bullet List_White">
  <p:cSld name="1_Bullet List_White">
    <p:bg>
      <p:bgPr>
        <a:solidFill>
          <a:schemeClr val="dk2"/>
        </a:solidFill>
        <a:effectLst/>
      </p:bgPr>
    </p:bg>
    <p:spTree>
      <p:nvGrpSpPr>
        <p:cNvPr id="1" name="Shape 334"/>
        <p:cNvGrpSpPr/>
        <p:nvPr/>
      </p:nvGrpSpPr>
      <p:grpSpPr>
        <a:xfrm>
          <a:off x="0" y="0"/>
          <a:ext cx="0" cy="0"/>
          <a:chOff x="0" y="0"/>
          <a:chExt cx="0" cy="0"/>
        </a:xfrm>
      </p:grpSpPr>
      <p:sp>
        <p:nvSpPr>
          <p:cNvPr id="335" name="Google Shape;335;p52"/>
          <p:cNvSpPr txBox="1">
            <a:spLocks noGrp="1"/>
          </p:cNvSpPr>
          <p:nvPr>
            <p:ph type="sldNum" idx="12"/>
          </p:nvPr>
        </p:nvSpPr>
        <p:spPr>
          <a:xfrm>
            <a:off x="8201025" y="4865460"/>
            <a:ext cx="600000" cy="189000"/>
          </a:xfrm>
          <a:prstGeom prst="rect">
            <a:avLst/>
          </a:prstGeom>
          <a:noFill/>
          <a:ln>
            <a:noFill/>
          </a:ln>
        </p:spPr>
        <p:txBody>
          <a:bodyPr spcFirstLastPara="1" wrap="square" lIns="0" tIns="34275" rIns="0" bIns="34275" anchor="ctr" anchorCtr="0">
            <a:noAutofit/>
          </a:bodyPr>
          <a:lstStyle>
            <a:lvl1pPr marL="0" lvl="0" indent="0" algn="r" rtl="0">
              <a:spcBef>
                <a:spcPts val="0"/>
              </a:spcBef>
              <a:buNone/>
              <a:defRPr sz="600" b="0" i="0" u="none" strike="noStrike" cap="none">
                <a:solidFill>
                  <a:schemeClr val="lt1"/>
                </a:solidFill>
                <a:latin typeface="Arial"/>
                <a:ea typeface="Arial"/>
                <a:cs typeface="Arial"/>
                <a:sym typeface="Arial"/>
              </a:defRPr>
            </a:lvl1pPr>
            <a:lvl2pPr marL="0" lvl="1" indent="0" algn="r" rtl="0">
              <a:spcBef>
                <a:spcPts val="0"/>
              </a:spcBef>
              <a:buNone/>
              <a:defRPr sz="600" b="0" i="0" u="none" strike="noStrike" cap="none">
                <a:solidFill>
                  <a:schemeClr val="lt1"/>
                </a:solidFill>
                <a:latin typeface="Arial"/>
                <a:ea typeface="Arial"/>
                <a:cs typeface="Arial"/>
                <a:sym typeface="Arial"/>
              </a:defRPr>
            </a:lvl2pPr>
            <a:lvl3pPr marL="0" lvl="2" indent="0" algn="r" rtl="0">
              <a:spcBef>
                <a:spcPts val="0"/>
              </a:spcBef>
              <a:buNone/>
              <a:defRPr sz="600" b="0" i="0" u="none" strike="noStrike" cap="none">
                <a:solidFill>
                  <a:schemeClr val="lt1"/>
                </a:solidFill>
                <a:latin typeface="Arial"/>
                <a:ea typeface="Arial"/>
                <a:cs typeface="Arial"/>
                <a:sym typeface="Arial"/>
              </a:defRPr>
            </a:lvl3pPr>
            <a:lvl4pPr marL="0" lvl="3" indent="0" algn="r" rtl="0">
              <a:spcBef>
                <a:spcPts val="0"/>
              </a:spcBef>
              <a:buNone/>
              <a:defRPr sz="600" b="0" i="0" u="none" strike="noStrike" cap="none">
                <a:solidFill>
                  <a:schemeClr val="lt1"/>
                </a:solidFill>
                <a:latin typeface="Arial"/>
                <a:ea typeface="Arial"/>
                <a:cs typeface="Arial"/>
                <a:sym typeface="Arial"/>
              </a:defRPr>
            </a:lvl4pPr>
            <a:lvl5pPr marL="0" lvl="4" indent="0" algn="r" rtl="0">
              <a:spcBef>
                <a:spcPts val="0"/>
              </a:spcBef>
              <a:buNone/>
              <a:defRPr sz="600" b="0" i="0" u="none" strike="noStrike" cap="none">
                <a:solidFill>
                  <a:schemeClr val="lt1"/>
                </a:solidFill>
                <a:latin typeface="Arial"/>
                <a:ea typeface="Arial"/>
                <a:cs typeface="Arial"/>
                <a:sym typeface="Arial"/>
              </a:defRPr>
            </a:lvl5pPr>
            <a:lvl6pPr marL="0" lvl="5" indent="0" algn="r" rtl="0">
              <a:spcBef>
                <a:spcPts val="0"/>
              </a:spcBef>
              <a:buNone/>
              <a:defRPr sz="600" b="0" i="0" u="none" strike="noStrike" cap="none">
                <a:solidFill>
                  <a:schemeClr val="lt1"/>
                </a:solidFill>
                <a:latin typeface="Arial"/>
                <a:ea typeface="Arial"/>
                <a:cs typeface="Arial"/>
                <a:sym typeface="Arial"/>
              </a:defRPr>
            </a:lvl6pPr>
            <a:lvl7pPr marL="0" lvl="6" indent="0" algn="r" rtl="0">
              <a:spcBef>
                <a:spcPts val="0"/>
              </a:spcBef>
              <a:buNone/>
              <a:defRPr sz="600" b="0" i="0" u="none" strike="noStrike" cap="none">
                <a:solidFill>
                  <a:schemeClr val="lt1"/>
                </a:solidFill>
                <a:latin typeface="Arial"/>
                <a:ea typeface="Arial"/>
                <a:cs typeface="Arial"/>
                <a:sym typeface="Arial"/>
              </a:defRPr>
            </a:lvl7pPr>
            <a:lvl8pPr marL="0" lvl="7" indent="0" algn="r" rtl="0">
              <a:spcBef>
                <a:spcPts val="0"/>
              </a:spcBef>
              <a:buNone/>
              <a:defRPr sz="600" b="0" i="0" u="none" strike="noStrike" cap="none">
                <a:solidFill>
                  <a:schemeClr val="lt1"/>
                </a:solidFill>
                <a:latin typeface="Arial"/>
                <a:ea typeface="Arial"/>
                <a:cs typeface="Arial"/>
                <a:sym typeface="Arial"/>
              </a:defRPr>
            </a:lvl8pPr>
            <a:lvl9pPr marL="0" lvl="8" indent="0" algn="r" rtl="0">
              <a:spcBef>
                <a:spcPts val="0"/>
              </a:spcBef>
              <a:buNone/>
              <a:defRPr sz="6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dirty="0"/>
          </a:p>
        </p:txBody>
      </p:sp>
      <p:sp>
        <p:nvSpPr>
          <p:cNvPr id="336" name="Google Shape;336;p52"/>
          <p:cNvSpPr txBox="1">
            <a:spLocks noGrp="1"/>
          </p:cNvSpPr>
          <p:nvPr>
            <p:ph type="title"/>
          </p:nvPr>
        </p:nvSpPr>
        <p:spPr>
          <a:xfrm>
            <a:off x="342900" y="297679"/>
            <a:ext cx="8458200" cy="5199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Clr>
                <a:schemeClr val="lt2"/>
              </a:buClr>
              <a:buSzPts val="2400"/>
              <a:buFont typeface="Arial"/>
              <a:buNone/>
              <a:defRPr sz="2400">
                <a:solidFill>
                  <a:schemeClr val="lt2"/>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337" name="Google Shape;337;p52"/>
          <p:cNvSpPr txBox="1">
            <a:spLocks noGrp="1"/>
          </p:cNvSpPr>
          <p:nvPr>
            <p:ph type="body" idx="1"/>
          </p:nvPr>
        </p:nvSpPr>
        <p:spPr>
          <a:xfrm>
            <a:off x="342900" y="935182"/>
            <a:ext cx="8458200" cy="3751200"/>
          </a:xfrm>
          <a:prstGeom prst="rect">
            <a:avLst/>
          </a:prstGeom>
          <a:noFill/>
          <a:ln>
            <a:noFill/>
          </a:ln>
        </p:spPr>
        <p:txBody>
          <a:bodyPr spcFirstLastPara="1" wrap="square" lIns="68575" tIns="34275" rIns="68575" bIns="34275" anchor="t" anchorCtr="0">
            <a:noAutofit/>
          </a:bodyPr>
          <a:lstStyle>
            <a:lvl1pPr marL="457200" lvl="0" indent="-342900" algn="l" rtl="0">
              <a:lnSpc>
                <a:spcPct val="100000"/>
              </a:lnSpc>
              <a:spcBef>
                <a:spcPts val="500"/>
              </a:spcBef>
              <a:spcAft>
                <a:spcPts val="0"/>
              </a:spcAft>
              <a:buClr>
                <a:schemeClr val="lt2"/>
              </a:buClr>
              <a:buSzPts val="1800"/>
              <a:buFont typeface="Noto Sans Symbols"/>
              <a:buChar char="▪"/>
              <a:defRPr b="0">
                <a:solidFill>
                  <a:schemeClr val="lt2"/>
                </a:solidFill>
              </a:defRPr>
            </a:lvl1pPr>
            <a:lvl2pPr marL="914400" lvl="1" indent="-355600" algn="l" rtl="0">
              <a:lnSpc>
                <a:spcPct val="100000"/>
              </a:lnSpc>
              <a:spcBef>
                <a:spcPts val="500"/>
              </a:spcBef>
              <a:spcAft>
                <a:spcPts val="0"/>
              </a:spcAft>
              <a:buClr>
                <a:schemeClr val="lt1"/>
              </a:buClr>
              <a:buSzPts val="2000"/>
              <a:buFont typeface="Noto Sans Symbols"/>
              <a:buChar char="▪"/>
              <a:defRPr>
                <a:solidFill>
                  <a:schemeClr val="lt2"/>
                </a:solidFill>
              </a:defRPr>
            </a:lvl2pPr>
            <a:lvl3pPr marL="1371600" lvl="2" indent="-342900" algn="l" rtl="0">
              <a:lnSpc>
                <a:spcPct val="100000"/>
              </a:lnSpc>
              <a:spcBef>
                <a:spcPts val="500"/>
              </a:spcBef>
              <a:spcAft>
                <a:spcPts val="0"/>
              </a:spcAft>
              <a:buClr>
                <a:schemeClr val="lt2"/>
              </a:buClr>
              <a:buSzPts val="1800"/>
              <a:buFont typeface="Noto Sans Symbols"/>
              <a:buChar char="▪"/>
              <a:defRPr sz="1700">
                <a:solidFill>
                  <a:schemeClr val="lt2"/>
                </a:solidFill>
              </a:defRPr>
            </a:lvl3pPr>
            <a:lvl4pPr marL="1828800" lvl="3" indent="-342900" algn="l" rtl="0">
              <a:lnSpc>
                <a:spcPct val="100000"/>
              </a:lnSpc>
              <a:spcBef>
                <a:spcPts val="500"/>
              </a:spcBef>
              <a:spcAft>
                <a:spcPts val="0"/>
              </a:spcAft>
              <a:buClr>
                <a:schemeClr val="lt2"/>
              </a:buClr>
              <a:buSzPts val="1800"/>
              <a:buFont typeface="Courier New"/>
              <a:buChar char="o"/>
              <a:defRPr sz="1700">
                <a:solidFill>
                  <a:schemeClr val="lt2"/>
                </a:solidFill>
              </a:defRPr>
            </a:lvl4pPr>
            <a:lvl5pPr marL="2286000" lvl="4" indent="-311150" algn="l" rtl="0">
              <a:lnSpc>
                <a:spcPct val="100000"/>
              </a:lnSpc>
              <a:spcBef>
                <a:spcPts val="500"/>
              </a:spcBef>
              <a:spcAft>
                <a:spcPts val="0"/>
              </a:spcAft>
              <a:buClr>
                <a:schemeClr val="lt2"/>
              </a:buClr>
              <a:buSzPts val="1300"/>
              <a:buFont typeface="Noto Sans Symbols"/>
              <a:buChar char="▪"/>
              <a:defRPr sz="1400">
                <a:solidFill>
                  <a:schemeClr val="lt2"/>
                </a:solidFill>
              </a:defRPr>
            </a:lvl5pPr>
            <a:lvl6pPr marL="2743200" lvl="5" indent="-311150" algn="l" rtl="0">
              <a:lnSpc>
                <a:spcPct val="100000"/>
              </a:lnSpc>
              <a:spcBef>
                <a:spcPts val="500"/>
              </a:spcBef>
              <a:spcAft>
                <a:spcPts val="0"/>
              </a:spcAft>
              <a:buClr>
                <a:schemeClr val="lt1"/>
              </a:buClr>
              <a:buSzPts val="1300"/>
              <a:buFont typeface="Noto Sans Symbols"/>
              <a:buChar char="▪"/>
              <a:defRPr sz="1200">
                <a:solidFill>
                  <a:schemeClr val="lt1"/>
                </a:solidFill>
              </a:defRPr>
            </a:lvl6pPr>
            <a:lvl7pPr marL="3200400" lvl="6" indent="-317500" algn="l" rtl="0">
              <a:lnSpc>
                <a:spcPct val="100000"/>
              </a:lnSpc>
              <a:spcBef>
                <a:spcPts val="500"/>
              </a:spcBef>
              <a:spcAft>
                <a:spcPts val="0"/>
              </a:spcAft>
              <a:buClr>
                <a:schemeClr val="lt2"/>
              </a:buClr>
              <a:buSzPts val="1400"/>
              <a:buChar char="▪"/>
              <a:defRPr/>
            </a:lvl7pPr>
            <a:lvl8pPr marL="3657600" lvl="7" indent="-228600" algn="l" rtl="0">
              <a:lnSpc>
                <a:spcPct val="90000"/>
              </a:lnSpc>
              <a:spcBef>
                <a:spcPts val="400"/>
              </a:spcBef>
              <a:spcAft>
                <a:spcPts val="0"/>
              </a:spcAft>
              <a:buClr>
                <a:schemeClr val="lt1"/>
              </a:buClr>
              <a:buSzPts val="1400"/>
              <a:buNone/>
              <a:defRPr/>
            </a:lvl8pPr>
            <a:lvl9pPr marL="4114800" lvl="8" indent="-317500" algn="l" rtl="0">
              <a:lnSpc>
                <a:spcPct val="90000"/>
              </a:lnSpc>
              <a:spcBef>
                <a:spcPts val="400"/>
              </a:spcBef>
              <a:spcAft>
                <a:spcPts val="0"/>
              </a:spcAft>
              <a:buClr>
                <a:schemeClr val="lt1"/>
              </a:buClr>
              <a:buSzPts val="1400"/>
              <a:buChar char="•"/>
              <a:defRPr/>
            </a:lvl9pPr>
          </a:lstStyle>
          <a:p>
            <a:endParaRPr/>
          </a:p>
        </p:txBody>
      </p:sp>
    </p:spTree>
    <p:extLst>
      <p:ext uri="{BB962C8B-B14F-4D97-AF65-F5344CB8AC3E}">
        <p14:creationId xmlns:p14="http://schemas.microsoft.com/office/powerpoint/2010/main" val="2412575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ransition 2">
  <p:cSld name="Transition 2">
    <p:spTree>
      <p:nvGrpSpPr>
        <p:cNvPr id="1" name="Shape 50"/>
        <p:cNvGrpSpPr/>
        <p:nvPr/>
      </p:nvGrpSpPr>
      <p:grpSpPr>
        <a:xfrm>
          <a:off x="0" y="0"/>
          <a:ext cx="0" cy="0"/>
          <a:chOff x="0" y="0"/>
          <a:chExt cx="0" cy="0"/>
        </a:xfrm>
      </p:grpSpPr>
      <p:cxnSp>
        <p:nvCxnSpPr>
          <p:cNvPr id="51" name="Google Shape;51;p13"/>
          <p:cNvCxnSpPr/>
          <p:nvPr userDrawn="1"/>
        </p:nvCxnSpPr>
        <p:spPr>
          <a:xfrm rot="9119805" flipH="1">
            <a:off x="3650097" y="534658"/>
            <a:ext cx="6484046" cy="5376834"/>
          </a:xfrm>
          <a:prstGeom prst="straightConnector1">
            <a:avLst/>
          </a:prstGeom>
          <a:noFill/>
          <a:ln w="228600" cap="flat" cmpd="sng">
            <a:solidFill>
              <a:srgbClr val="003778"/>
            </a:solidFill>
            <a:prstDash val="solid"/>
            <a:round/>
            <a:headEnd type="none" w="med" len="med"/>
            <a:tailEnd type="none" w="med" len="med"/>
          </a:ln>
        </p:spPr>
      </p:cxnSp>
      <p:cxnSp>
        <p:nvCxnSpPr>
          <p:cNvPr id="52" name="Google Shape;52;p13"/>
          <p:cNvCxnSpPr/>
          <p:nvPr/>
        </p:nvCxnSpPr>
        <p:spPr>
          <a:xfrm rot="9119805" flipH="1">
            <a:off x="3421942" y="484085"/>
            <a:ext cx="6484046" cy="5376163"/>
          </a:xfrm>
          <a:prstGeom prst="straightConnector1">
            <a:avLst/>
          </a:prstGeom>
          <a:noFill/>
          <a:ln w="228600" cap="flat" cmpd="sng">
            <a:solidFill>
              <a:srgbClr val="0094FF"/>
            </a:solidFill>
            <a:prstDash val="solid"/>
            <a:round/>
            <a:headEnd type="none" w="med" len="med"/>
            <a:tailEnd type="none" w="med" len="med"/>
          </a:ln>
        </p:spPr>
      </p:cxnSp>
      <p:cxnSp>
        <p:nvCxnSpPr>
          <p:cNvPr id="53" name="Google Shape;53;p13"/>
          <p:cNvCxnSpPr/>
          <p:nvPr/>
        </p:nvCxnSpPr>
        <p:spPr>
          <a:xfrm rot="9119805" flipH="1">
            <a:off x="3845430" y="625744"/>
            <a:ext cx="6484046" cy="5376834"/>
          </a:xfrm>
          <a:prstGeom prst="straightConnector1">
            <a:avLst/>
          </a:prstGeom>
          <a:noFill/>
          <a:ln w="228600" cap="flat" cmpd="sng">
            <a:solidFill>
              <a:srgbClr val="003778"/>
            </a:solidFill>
            <a:prstDash val="solid"/>
            <a:round/>
            <a:headEnd type="none" w="med" len="med"/>
            <a:tailEnd type="none" w="med" len="med"/>
          </a:ln>
        </p:spPr>
      </p:cxnSp>
      <p:cxnSp>
        <p:nvCxnSpPr>
          <p:cNvPr id="54" name="Google Shape;54;p13"/>
          <p:cNvCxnSpPr/>
          <p:nvPr/>
        </p:nvCxnSpPr>
        <p:spPr>
          <a:xfrm rot="9119805" flipH="1">
            <a:off x="4040763" y="716829"/>
            <a:ext cx="6484046" cy="5376834"/>
          </a:xfrm>
          <a:prstGeom prst="straightConnector1">
            <a:avLst/>
          </a:prstGeom>
          <a:noFill/>
          <a:ln w="228600" cap="flat" cmpd="sng">
            <a:solidFill>
              <a:srgbClr val="003778"/>
            </a:solidFill>
            <a:prstDash val="solid"/>
            <a:round/>
            <a:headEnd type="none" w="med" len="med"/>
            <a:tailEnd type="none" w="med" len="med"/>
          </a:ln>
        </p:spPr>
      </p:cxnSp>
      <p:cxnSp>
        <p:nvCxnSpPr>
          <p:cNvPr id="55" name="Google Shape;55;p13"/>
          <p:cNvCxnSpPr/>
          <p:nvPr/>
        </p:nvCxnSpPr>
        <p:spPr>
          <a:xfrm rot="9119805" flipH="1">
            <a:off x="3223468" y="455785"/>
            <a:ext cx="6484046" cy="5376163"/>
          </a:xfrm>
          <a:prstGeom prst="straightConnector1">
            <a:avLst/>
          </a:prstGeom>
          <a:noFill/>
          <a:ln w="228600" cap="flat" cmpd="sng">
            <a:solidFill>
              <a:srgbClr val="0094FF"/>
            </a:solidFill>
            <a:prstDash val="solid"/>
            <a:round/>
            <a:headEnd type="none" w="med" len="med"/>
            <a:tailEnd type="none" w="med" len="med"/>
          </a:ln>
        </p:spPr>
      </p:cxnSp>
      <p:sp>
        <p:nvSpPr>
          <p:cNvPr id="56" name="Google Shape;56;p13"/>
          <p:cNvSpPr txBox="1">
            <a:spLocks noGrp="1"/>
          </p:cNvSpPr>
          <p:nvPr>
            <p:ph type="title"/>
          </p:nvPr>
        </p:nvSpPr>
        <p:spPr>
          <a:xfrm>
            <a:off x="797275" y="1460500"/>
            <a:ext cx="5108100" cy="13899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003778"/>
              </a:buClr>
              <a:buSzPts val="4400"/>
              <a:buFont typeface="Archivo"/>
              <a:buNone/>
              <a:defRPr sz="4400" b="1">
                <a:solidFill>
                  <a:srgbClr val="003778"/>
                </a:solidFill>
                <a:latin typeface="Archivo"/>
                <a:ea typeface="Archivo"/>
                <a:cs typeface="Archivo"/>
                <a:sym typeface="Archiv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57" name="Google Shape;57;p13"/>
          <p:cNvPicPr preferRelativeResize="0"/>
          <p:nvPr userDrawn="1"/>
        </p:nvPicPr>
        <p:blipFill>
          <a:blip r:embed="rId2">
            <a:alphaModFix/>
          </a:blip>
          <a:stretch>
            <a:fillRect/>
          </a:stretch>
        </p:blipFill>
        <p:spPr>
          <a:xfrm>
            <a:off x="7865000" y="3866600"/>
            <a:ext cx="1038600" cy="1038600"/>
          </a:xfrm>
          <a:prstGeom prst="rect">
            <a:avLst/>
          </a:prstGeom>
          <a:noFill/>
          <a:ln>
            <a:noFill/>
          </a:ln>
        </p:spPr>
      </p:pic>
      <p:sp>
        <p:nvSpPr>
          <p:cNvPr id="58" name="Google Shape;58;p13"/>
          <p:cNvSpPr txBox="1">
            <a:spLocks noGrp="1"/>
          </p:cNvSpPr>
          <p:nvPr>
            <p:ph type="subTitle" idx="1"/>
          </p:nvPr>
        </p:nvSpPr>
        <p:spPr>
          <a:xfrm>
            <a:off x="797275" y="2894575"/>
            <a:ext cx="4194600" cy="6570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0094FF"/>
              </a:buClr>
              <a:buSzPts val="1900"/>
              <a:buFont typeface="Archivo"/>
              <a:buNone/>
              <a:defRPr sz="1900">
                <a:solidFill>
                  <a:srgbClr val="0094FF"/>
                </a:solidFill>
                <a:latin typeface="Archivo"/>
                <a:ea typeface="Archivo"/>
                <a:cs typeface="Archivo"/>
                <a:sym typeface="Archiv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624051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9"/>
        <p:cNvGrpSpPr/>
        <p:nvPr/>
      </p:nvGrpSpPr>
      <p:grpSpPr>
        <a:xfrm>
          <a:off x="0" y="0"/>
          <a:ext cx="0" cy="0"/>
          <a:chOff x="0" y="0"/>
          <a:chExt cx="0" cy="0"/>
        </a:xfrm>
      </p:grpSpPr>
      <p:sp>
        <p:nvSpPr>
          <p:cNvPr id="100" name="Google Shape;100;p15"/>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01" name="Google Shape;101;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E238CB1-F8E6-F156-8915-1A35C64D23E6}"/>
              </a:ext>
            </a:extLst>
          </p:cNvPr>
          <p:cNvPicPr>
            <a:picLocks noChangeAspect="1"/>
          </p:cNvPicPr>
          <p:nvPr userDrawn="1"/>
        </p:nvPicPr>
        <p:blipFill>
          <a:blip r:embed="rId2"/>
          <a:stretch>
            <a:fillRect/>
          </a:stretch>
        </p:blipFill>
        <p:spPr>
          <a:xfrm>
            <a:off x="3251200" y="1866900"/>
            <a:ext cx="2641600" cy="1409700"/>
          </a:xfrm>
          <a:prstGeom prst="rect">
            <a:avLst/>
          </a:prstGeom>
        </p:spPr>
      </p:pic>
    </p:spTree>
    <p:extLst>
      <p:ext uri="{BB962C8B-B14F-4D97-AF65-F5344CB8AC3E}">
        <p14:creationId xmlns:p14="http://schemas.microsoft.com/office/powerpoint/2010/main" val="1823438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8"/>
        <p:cNvGrpSpPr/>
        <p:nvPr/>
      </p:nvGrpSpPr>
      <p:grpSpPr>
        <a:xfrm>
          <a:off x="0" y="0"/>
          <a:ext cx="0" cy="0"/>
          <a:chOff x="0" y="0"/>
          <a:chExt cx="0" cy="0"/>
        </a:xfrm>
      </p:grpSpPr>
      <p:sp>
        <p:nvSpPr>
          <p:cNvPr id="29" name="Google Shape;29;p26"/>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0" name="Google Shape;30;p2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31" name="Google Shape;31;p26"/>
          <p:cNvSpPr/>
          <p:nvPr/>
        </p:nvSpPr>
        <p:spPr>
          <a:xfrm>
            <a:off x="8418600" y="0"/>
            <a:ext cx="725400" cy="7254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2" name="Google Shape;32;p26"/>
          <p:cNvPicPr preferRelativeResize="0"/>
          <p:nvPr/>
        </p:nvPicPr>
        <p:blipFill rotWithShape="1">
          <a:blip r:embed="rId2">
            <a:alphaModFix/>
          </a:blip>
          <a:srcRect/>
          <a:stretch/>
        </p:blipFill>
        <p:spPr>
          <a:xfrm>
            <a:off x="190335" y="4651200"/>
            <a:ext cx="970780" cy="319850"/>
          </a:xfrm>
          <a:prstGeom prst="rect">
            <a:avLst/>
          </a:prstGeom>
          <a:noFill/>
          <a:ln>
            <a:noFill/>
          </a:ln>
        </p:spPr>
      </p:pic>
      <p:pic>
        <p:nvPicPr>
          <p:cNvPr id="33" name="Google Shape;33;p26"/>
          <p:cNvPicPr preferRelativeResize="0"/>
          <p:nvPr/>
        </p:nvPicPr>
        <p:blipFill rotWithShape="1">
          <a:blip r:embed="rId3">
            <a:alphaModFix/>
          </a:blip>
          <a:srcRect/>
          <a:stretch/>
        </p:blipFill>
        <p:spPr>
          <a:xfrm>
            <a:off x="1315843" y="4618434"/>
            <a:ext cx="673323" cy="385382"/>
          </a:xfrm>
          <a:prstGeom prst="rect">
            <a:avLst/>
          </a:prstGeom>
          <a:noFill/>
          <a:ln>
            <a:noFill/>
          </a:ln>
        </p:spPr>
      </p:pic>
    </p:spTree>
    <p:extLst>
      <p:ext uri="{BB962C8B-B14F-4D97-AF65-F5344CB8AC3E}">
        <p14:creationId xmlns:p14="http://schemas.microsoft.com/office/powerpoint/2010/main" val="2163329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50" r:id="rId1"/>
    <p:sldLayoutId id="2147483654" r:id="rId2"/>
    <p:sldLayoutId id="2147483655" r:id="rId3"/>
    <p:sldLayoutId id="2147483656" r:id="rId4"/>
    <p:sldLayoutId id="2147483666" r:id="rId5"/>
    <p:sldLayoutId id="2147483668" r:id="rId6"/>
    <p:sldLayoutId id="2147483669" r:id="rId7"/>
    <p:sldLayoutId id="2147483670" r:id="rId8"/>
    <p:sldLayoutId id="2147483671" r:id="rId9"/>
    <p:sldLayoutId id="214748367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OpenChain-Project/Project-Charter-And-Agreements/blob/master/Project-Charter/OpenChain-Charter-March2020.pdf"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hyperlink" Target="https://osselceu2026.sched.com/event/2RaaY/panel-discussion-openchain-20-open-source-compliance-in-the-age-of-automotive-sbom-generative-ai-and-the-cra-moderated-by-masato-endo-toyota-motor-corporation"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openchainproject.org/participate" TargetMode="External"/><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hyperlink" Target="https://github.com/OpenChain-Project/OpenChain-SouthEastAsia-WG" TargetMode="External"/><Relationship Id="rId4" Type="http://schemas.openxmlformats.org/officeDocument/2006/relationships/hyperlink" Target="https://lists.openchainproject.org/g/southeastasia-wg"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a:xfrm>
            <a:off x="598100" y="1226378"/>
            <a:ext cx="7691790" cy="1894500"/>
          </a:xfrm>
        </p:spPr>
        <p:txBody>
          <a:bodyPr/>
          <a:lstStyle/>
          <a:p>
            <a:r>
              <a:rPr lang="en-US" dirty="0" err="1"/>
              <a:t>OpenChain</a:t>
            </a:r>
            <a:r>
              <a:rPr lang="en-US" dirty="0"/>
              <a:t> Monthly Meeting</a:t>
            </a:r>
            <a:br>
              <a:rPr lang="en-US" dirty="0"/>
            </a:br>
            <a:r>
              <a:rPr lang="en-US" dirty="0"/>
              <a:t>Southeast Asia Work Group</a:t>
            </a:r>
          </a:p>
        </p:txBody>
      </p:sp>
      <p:sp>
        <p:nvSpPr>
          <p:cNvPr id="3" name="Subtitle 2">
            <a:extLst>
              <a:ext uri="{FF2B5EF4-FFF2-40B4-BE49-F238E27FC236}">
                <a16:creationId xmlns:a16="http://schemas.microsoft.com/office/drawing/2014/main" id="{57ADAC6C-A094-DE2D-4340-F79823009CC6}"/>
              </a:ext>
            </a:extLst>
          </p:cNvPr>
          <p:cNvSpPr>
            <a:spLocks noGrp="1"/>
          </p:cNvSpPr>
          <p:nvPr>
            <p:ph type="subTitle" idx="1"/>
          </p:nvPr>
        </p:nvSpPr>
        <p:spPr/>
        <p:txBody>
          <a:bodyPr>
            <a:normAutofit fontScale="92500" lnSpcReduction="20000"/>
          </a:bodyPr>
          <a:lstStyle/>
          <a:p>
            <a:r>
              <a:rPr lang="en-US" dirty="0"/>
              <a:t>Thursday 22 October 202</a:t>
            </a:r>
            <a:r>
              <a:rPr lang="en-US" altLang="zh-CN" dirty="0"/>
              <a:t>6</a:t>
            </a:r>
            <a:r>
              <a:rPr lang="en-US" dirty="0"/>
              <a:t> @ 20:00 SGT, 13:00 UK, </a:t>
            </a:r>
            <a:r>
              <a:rPr lang="en-US" altLang="zh-CN" dirty="0"/>
              <a:t>07:00</a:t>
            </a:r>
            <a:r>
              <a:rPr lang="zh-CN" altLang="en-US" dirty="0"/>
              <a:t> </a:t>
            </a:r>
            <a:r>
              <a:rPr lang="en-US" altLang="zh-CN" dirty="0"/>
              <a:t>CT</a:t>
            </a:r>
            <a:r>
              <a:rPr lang="zh-CN" altLang="en-US" dirty="0"/>
              <a:t> </a:t>
            </a:r>
            <a:r>
              <a:rPr lang="en-US" altLang="zh-CN" dirty="0"/>
              <a:t>US</a:t>
            </a:r>
            <a:endParaRPr lang="en-US" dirty="0"/>
          </a:p>
        </p:txBody>
      </p:sp>
    </p:spTree>
    <p:extLst>
      <p:ext uri="{BB962C8B-B14F-4D97-AF65-F5344CB8AC3E}">
        <p14:creationId xmlns:p14="http://schemas.microsoft.com/office/powerpoint/2010/main" val="435802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Anti-Trust Policy Notice</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fontScale="85000" lnSpcReduction="10000"/>
          </a:bodyPr>
          <a:lstStyle/>
          <a:p>
            <a:pPr marL="285750" indent="-285750">
              <a:spcAft>
                <a:spcPts val="1200"/>
              </a:spcAft>
            </a:pPr>
            <a:r>
              <a:rPr lang="en-US"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pPr marL="285750" indent="-285750">
              <a:spcAft>
                <a:spcPts val="1200"/>
              </a:spcAft>
            </a:pPr>
            <a:r>
              <a:rPr lang="en-US" dirty="0"/>
              <a:t>Examples of types of actions that are prohibited at Linux Foundation meetings and in connection with Linux Foundation activities are described in the Linux Foundation Antitrust Policy available at http://</a:t>
            </a:r>
            <a:r>
              <a:rPr lang="en-US" dirty="0" err="1"/>
              <a:t>www.linuxfoundation.org</a:t>
            </a:r>
            <a:r>
              <a:rPr lang="en-US" dirty="0"/>
              <a:t>/antitrust-policy. If you have questions about these matters, please contact your company counsel, or if you are a member of the Linux Foundation, feel free to contact Andrew </a:t>
            </a:r>
            <a:r>
              <a:rPr lang="en-US" dirty="0" err="1"/>
              <a:t>Updegrove</a:t>
            </a:r>
            <a:r>
              <a:rPr lang="en-US" dirty="0"/>
              <a:t> of the firm of </a:t>
            </a:r>
            <a:r>
              <a:rPr lang="en-US" dirty="0" err="1"/>
              <a:t>Gesmer</a:t>
            </a:r>
            <a:r>
              <a:rPr lang="en-US" dirty="0"/>
              <a:t> </a:t>
            </a:r>
            <a:r>
              <a:rPr lang="en-US" dirty="0" err="1"/>
              <a:t>Updegrove</a:t>
            </a:r>
            <a:r>
              <a:rPr lang="en-US" dirty="0"/>
              <a:t> LLP, which provides legal counsel to the Linux Foundation.</a:t>
            </a:r>
          </a:p>
          <a:p>
            <a:pPr marL="0" lvl="0" indent="0" algn="l" rtl="0">
              <a:spcBef>
                <a:spcPts val="0"/>
              </a:spcBef>
              <a:spcAft>
                <a:spcPts val="1200"/>
              </a:spcAft>
              <a:buNone/>
            </a:pPr>
            <a:endParaRPr lang="en-US" dirty="0"/>
          </a:p>
          <a:p>
            <a:pPr marL="0" lvl="0" indent="0" algn="l" rtl="0">
              <a:spcBef>
                <a:spcPts val="0"/>
              </a:spcBef>
              <a:spcAft>
                <a:spcPts val="1200"/>
              </a:spcAft>
              <a:buNone/>
            </a:pPr>
            <a:endParaRPr dirty="0"/>
          </a:p>
        </p:txBody>
      </p:sp>
    </p:spTree>
    <p:extLst>
      <p:ext uri="{BB962C8B-B14F-4D97-AF65-F5344CB8AC3E}">
        <p14:creationId xmlns:p14="http://schemas.microsoft.com/office/powerpoint/2010/main" val="2840883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21695-FD7C-8DA6-20FC-8E0EDF77014B}"/>
              </a:ext>
            </a:extLst>
          </p:cNvPr>
          <p:cNvSpPr>
            <a:spLocks noGrp="1"/>
          </p:cNvSpPr>
          <p:nvPr>
            <p:ph type="title"/>
          </p:nvPr>
        </p:nvSpPr>
        <p:spPr/>
        <p:txBody>
          <a:bodyPr>
            <a:normAutofit fontScale="90000"/>
          </a:bodyPr>
          <a:lstStyle/>
          <a:p>
            <a:r>
              <a:rPr lang="en-US" dirty="0"/>
              <a:t>Agenda</a:t>
            </a:r>
          </a:p>
        </p:txBody>
      </p:sp>
      <p:sp>
        <p:nvSpPr>
          <p:cNvPr id="3" name="Text Placeholder 2">
            <a:extLst>
              <a:ext uri="{FF2B5EF4-FFF2-40B4-BE49-F238E27FC236}">
                <a16:creationId xmlns:a16="http://schemas.microsoft.com/office/drawing/2014/main" id="{273091F0-92CF-F84E-A037-D2B0954FF8D5}"/>
              </a:ext>
            </a:extLst>
          </p:cNvPr>
          <p:cNvSpPr>
            <a:spLocks noGrp="1"/>
          </p:cNvSpPr>
          <p:nvPr>
            <p:ph type="body" idx="1"/>
          </p:nvPr>
        </p:nvSpPr>
        <p:spPr/>
        <p:txBody>
          <a:bodyPr/>
          <a:lstStyle/>
          <a:p>
            <a:pPr lvl="0"/>
            <a:r>
              <a:rPr lang="en-SG" dirty="0"/>
              <a:t>Introduction to </a:t>
            </a:r>
            <a:r>
              <a:rPr lang="en-SG" dirty="0" err="1"/>
              <a:t>OpenChain</a:t>
            </a:r>
            <a:r>
              <a:rPr lang="en-SG" dirty="0"/>
              <a:t> and latest project updates</a:t>
            </a:r>
          </a:p>
          <a:p>
            <a:pPr lvl="0"/>
            <a:r>
              <a:rPr lang="en-SG" dirty="0"/>
              <a:t>Initial plans for the Southeast Asia Work Group</a:t>
            </a:r>
          </a:p>
          <a:p>
            <a:pPr lvl="0"/>
            <a:r>
              <a:rPr lang="en-SG" dirty="0"/>
              <a:t>Open discussion on open source supply chains, security, AI supply chains, and regional collaboration</a:t>
            </a:r>
          </a:p>
        </p:txBody>
      </p:sp>
    </p:spTree>
    <p:extLst>
      <p:ext uri="{BB962C8B-B14F-4D97-AF65-F5344CB8AC3E}">
        <p14:creationId xmlns:p14="http://schemas.microsoft.com/office/powerpoint/2010/main" val="2818411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34298-2C16-FF9F-FCA6-D86C2DB3CF3D}"/>
              </a:ext>
            </a:extLst>
          </p:cNvPr>
          <p:cNvSpPr>
            <a:spLocks noGrp="1"/>
          </p:cNvSpPr>
          <p:nvPr>
            <p:ph type="title"/>
          </p:nvPr>
        </p:nvSpPr>
        <p:spPr/>
        <p:txBody>
          <a:bodyPr>
            <a:normAutofit fontScale="90000"/>
          </a:bodyPr>
          <a:lstStyle/>
          <a:p>
            <a:r>
              <a:rPr lang="en-US" dirty="0"/>
              <a:t>OpenChain Vision + Mission</a:t>
            </a:r>
          </a:p>
        </p:txBody>
      </p:sp>
      <p:sp>
        <p:nvSpPr>
          <p:cNvPr id="3" name="Text Placeholder 2">
            <a:extLst>
              <a:ext uri="{FF2B5EF4-FFF2-40B4-BE49-F238E27FC236}">
                <a16:creationId xmlns:a16="http://schemas.microsoft.com/office/drawing/2014/main" id="{9A2FEC43-F4C1-9E13-0BBE-8C91A29C42C2}"/>
              </a:ext>
            </a:extLst>
          </p:cNvPr>
          <p:cNvSpPr>
            <a:spLocks noGrp="1"/>
          </p:cNvSpPr>
          <p:nvPr>
            <p:ph type="body" idx="1"/>
          </p:nvPr>
        </p:nvSpPr>
        <p:spPr/>
        <p:txBody>
          <a:bodyPr>
            <a:normAutofit/>
          </a:bodyPr>
          <a:lstStyle/>
          <a:p>
            <a:pPr marL="114297" indent="0" algn="ctr">
              <a:buNone/>
            </a:pPr>
            <a:endParaRPr lang="en-US" sz="2000" b="1" dirty="0"/>
          </a:p>
          <a:p>
            <a:pPr marL="114297" indent="0" algn="ctr">
              <a:buNone/>
            </a:pPr>
            <a:r>
              <a:rPr lang="en-US" sz="2000" b="1" dirty="0"/>
              <a:t>Our vision is a trusted supply chain </a:t>
            </a:r>
          </a:p>
          <a:p>
            <a:pPr marL="114297" indent="0" algn="ctr">
              <a:buNone/>
            </a:pPr>
            <a:endParaRPr lang="en-US" sz="2000" b="1" dirty="0"/>
          </a:p>
          <a:p>
            <a:pPr marL="114297" indent="0" algn="ctr">
              <a:buNone/>
            </a:pPr>
            <a:r>
              <a:rPr lang="en-US" sz="2000" b="1" dirty="0"/>
              <a:t>Our mission is to make that happen</a:t>
            </a:r>
          </a:p>
          <a:p>
            <a:pPr marL="114297" indent="0" algn="ctr">
              <a:buNone/>
            </a:pPr>
            <a:endParaRPr lang="en-US" sz="2000" dirty="0"/>
          </a:p>
          <a:p>
            <a:pPr marL="114297" indent="0" algn="ctr">
              <a:buNone/>
            </a:pPr>
            <a:r>
              <a:rPr lang="en-US" sz="2000" dirty="0"/>
              <a:t>This makes a cheaper, faster, more efficient supply chain… for everyone</a:t>
            </a:r>
          </a:p>
        </p:txBody>
      </p:sp>
      <p:sp>
        <p:nvSpPr>
          <p:cNvPr id="4" name="Google Shape;279;g17bbeb37c32_0_11">
            <a:extLst>
              <a:ext uri="{FF2B5EF4-FFF2-40B4-BE49-F238E27FC236}">
                <a16:creationId xmlns:a16="http://schemas.microsoft.com/office/drawing/2014/main" id="{C619CCF8-435E-045C-9574-3A1A26B89922}"/>
              </a:ext>
            </a:extLst>
          </p:cNvPr>
          <p:cNvSpPr txBox="1">
            <a:spLocks/>
          </p:cNvSpPr>
          <p:nvPr/>
        </p:nvSpPr>
        <p:spPr>
          <a:xfrm>
            <a:off x="1598375" y="4592779"/>
            <a:ext cx="6970507" cy="506859"/>
          </a:xfrm>
          <a:prstGeom prst="rect">
            <a:avLst/>
          </a:prstGeom>
          <a:noFill/>
          <a:ln>
            <a:noFill/>
          </a:ln>
        </p:spPr>
        <p:txBody>
          <a:bodyPr spcFirstLastPara="1" wrap="square" lIns="91425" tIns="91425" rIns="91425" bIns="91425" anchor="ctr"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oboto Slab Light"/>
              <a:buNone/>
              <a:defRPr sz="3000" b="0" i="0" u="none" strike="noStrike" cap="none">
                <a:solidFill>
                  <a:schemeClr val="dk1"/>
                </a:solidFill>
                <a:latin typeface="Roboto Slab Light"/>
                <a:ea typeface="Roboto Slab Light"/>
                <a:cs typeface="Roboto Slab Light"/>
                <a:sym typeface="Roboto Slab Light"/>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pPr algn="ctr">
              <a:buSzPct val="111111"/>
            </a:pPr>
            <a:r>
              <a:rPr lang="en-US" sz="700" dirty="0">
                <a:solidFill>
                  <a:srgbClr val="003778"/>
                </a:solidFill>
                <a:latin typeface="+mn-lt"/>
              </a:rPr>
              <a:t>Project Charter: </a:t>
            </a:r>
            <a:br>
              <a:rPr lang="en-US" sz="700" dirty="0">
                <a:solidFill>
                  <a:srgbClr val="003778"/>
                </a:solidFill>
                <a:latin typeface="+mn-lt"/>
              </a:rPr>
            </a:br>
            <a:r>
              <a:rPr lang="en-US" sz="700" dirty="0">
                <a:solidFill>
                  <a:srgbClr val="003778"/>
                </a:solidFill>
                <a:latin typeface="+mn-lt"/>
                <a:hlinkClick r:id="rId3"/>
              </a:rPr>
              <a:t>https://github.com/OpenChain-Project/Project-Charter-And-Agreements/blob/master/Project-Charter/OpenChain-Charter-March2020.pdf</a:t>
            </a:r>
            <a:r>
              <a:rPr lang="en-US" sz="700" dirty="0">
                <a:solidFill>
                  <a:srgbClr val="003778"/>
                </a:solidFill>
                <a:latin typeface="+mn-lt"/>
              </a:rPr>
              <a:t> </a:t>
            </a:r>
          </a:p>
        </p:txBody>
      </p:sp>
    </p:spTree>
    <p:extLst>
      <p:ext uri="{BB962C8B-B14F-4D97-AF65-F5344CB8AC3E}">
        <p14:creationId xmlns:p14="http://schemas.microsoft.com/office/powerpoint/2010/main" val="2539965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prstGeom prst="rect">
            <a:avLst/>
          </a:prstGeom>
        </p:spPr>
        <p:txBody>
          <a:bodyPr spcFirstLastPara="1" wrap="square" lIns="91425" tIns="91425" rIns="91425" bIns="91425" anchor="t" anchorCtr="0">
            <a:normAutofit fontScale="90000"/>
          </a:bodyPr>
          <a:lstStyle/>
          <a:p>
            <a:r>
              <a:rPr lang="en-US" dirty="0"/>
              <a:t>Our Mental Model Of The Supply Chain</a:t>
            </a:r>
            <a:endParaRPr dirty="0"/>
          </a:p>
        </p:txBody>
      </p:sp>
      <p:sp>
        <p:nvSpPr>
          <p:cNvPr id="4" name="Rounded Rectangle 3">
            <a:extLst>
              <a:ext uri="{FF2B5EF4-FFF2-40B4-BE49-F238E27FC236}">
                <a16:creationId xmlns:a16="http://schemas.microsoft.com/office/drawing/2014/main" id="{9384F1B9-15FD-4261-CC5C-68A78CF6CB04}"/>
              </a:ext>
            </a:extLst>
          </p:cNvPr>
          <p:cNvSpPr/>
          <p:nvPr/>
        </p:nvSpPr>
        <p:spPr>
          <a:xfrm>
            <a:off x="2991853" y="149191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3C8480CB-F92E-C855-5D80-CD05FABF0385}"/>
              </a:ext>
            </a:extLst>
          </p:cNvPr>
          <p:cNvSpPr/>
          <p:nvPr/>
        </p:nvSpPr>
        <p:spPr>
          <a:xfrm>
            <a:off x="4271210" y="126645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6304DF58-8A77-E3AC-6515-40ECB62E3336}"/>
              </a:ext>
            </a:extLst>
          </p:cNvPr>
          <p:cNvSpPr/>
          <p:nvPr/>
        </p:nvSpPr>
        <p:spPr>
          <a:xfrm>
            <a:off x="5510460" y="149191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E61F0868-B6A8-0719-E66E-36F0241B5A71}"/>
              </a:ext>
            </a:extLst>
          </p:cNvPr>
          <p:cNvSpPr/>
          <p:nvPr/>
        </p:nvSpPr>
        <p:spPr>
          <a:xfrm>
            <a:off x="4271210" y="257175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301DF9EF-518C-D864-3579-169FAFADB6F3}"/>
              </a:ext>
            </a:extLst>
          </p:cNvPr>
          <p:cNvSpPr/>
          <p:nvPr/>
        </p:nvSpPr>
        <p:spPr>
          <a:xfrm>
            <a:off x="3031959" y="304868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7C20DC09-3102-E806-0441-0BE4DF585CC0}"/>
              </a:ext>
            </a:extLst>
          </p:cNvPr>
          <p:cNvSpPr/>
          <p:nvPr/>
        </p:nvSpPr>
        <p:spPr>
          <a:xfrm>
            <a:off x="5510461" y="304868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A0A1162-803F-63A7-6A34-BA62C333C2DA}"/>
              </a:ext>
            </a:extLst>
          </p:cNvPr>
          <p:cNvCxnSpPr>
            <a:stCxn id="8" idx="0"/>
          </p:cNvCxnSpPr>
          <p:nvPr/>
        </p:nvCxnSpPr>
        <p:spPr>
          <a:xfrm flipH="1" flipV="1">
            <a:off x="3332748" y="2358189"/>
            <a:ext cx="1" cy="690493"/>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2" name="Rounded Rectangle 11">
            <a:extLst>
              <a:ext uri="{FF2B5EF4-FFF2-40B4-BE49-F238E27FC236}">
                <a16:creationId xmlns:a16="http://schemas.microsoft.com/office/drawing/2014/main" id="{C7984C71-6340-D058-D4AA-FBB924FB8DAC}"/>
              </a:ext>
            </a:extLst>
          </p:cNvPr>
          <p:cNvSpPr/>
          <p:nvPr/>
        </p:nvSpPr>
        <p:spPr>
          <a:xfrm>
            <a:off x="4271210" y="3851866"/>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9DEFF108-BBEA-8AF7-29BA-40CD6FD97394}"/>
              </a:ext>
            </a:extLst>
          </p:cNvPr>
          <p:cNvCxnSpPr>
            <a:stCxn id="12" idx="0"/>
            <a:endCxn id="7" idx="2"/>
          </p:cNvCxnSpPr>
          <p:nvPr/>
        </p:nvCxnSpPr>
        <p:spPr>
          <a:xfrm flipV="1">
            <a:off x="4572000" y="3438024"/>
            <a:ext cx="0" cy="413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10DD120-CFDE-FE11-8A92-043F5A2DA611}"/>
              </a:ext>
            </a:extLst>
          </p:cNvPr>
          <p:cNvCxnSpPr>
            <a:stCxn id="12" idx="1"/>
            <a:endCxn id="8" idx="3"/>
          </p:cNvCxnSpPr>
          <p:nvPr/>
        </p:nvCxnSpPr>
        <p:spPr>
          <a:xfrm flipH="1" flipV="1">
            <a:off x="3633538" y="348181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4DCF4A6-A7B9-8019-B5FE-ECDDBB978845}"/>
              </a:ext>
            </a:extLst>
          </p:cNvPr>
          <p:cNvCxnSpPr>
            <a:stCxn id="12" idx="3"/>
            <a:endCxn id="9" idx="1"/>
          </p:cNvCxnSpPr>
          <p:nvPr/>
        </p:nvCxnSpPr>
        <p:spPr>
          <a:xfrm flipV="1">
            <a:off x="4872789" y="348181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271B48F-7B87-2718-F543-F30338F42F38}"/>
              </a:ext>
            </a:extLst>
          </p:cNvPr>
          <p:cNvCxnSpPr>
            <a:stCxn id="7" idx="0"/>
            <a:endCxn id="5" idx="2"/>
          </p:cNvCxnSpPr>
          <p:nvPr/>
        </p:nvCxnSpPr>
        <p:spPr>
          <a:xfrm flipV="1">
            <a:off x="4572000" y="2132724"/>
            <a:ext cx="0" cy="43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7751E7B-7F88-4454-1B77-7B1E163E84A1}"/>
              </a:ext>
            </a:extLst>
          </p:cNvPr>
          <p:cNvCxnSpPr>
            <a:stCxn id="9" idx="0"/>
            <a:endCxn id="6" idx="2"/>
          </p:cNvCxnSpPr>
          <p:nvPr/>
        </p:nvCxnSpPr>
        <p:spPr>
          <a:xfrm flipH="1" flipV="1">
            <a:off x="5811250" y="2358189"/>
            <a:ext cx="1" cy="69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5DC00B4-1EBC-F3C8-48AF-1A4DC5BE2174}"/>
              </a:ext>
            </a:extLst>
          </p:cNvPr>
          <p:cNvCxnSpPr>
            <a:stCxn id="4" idx="3"/>
            <a:endCxn id="5" idx="1"/>
          </p:cNvCxnSpPr>
          <p:nvPr/>
        </p:nvCxnSpPr>
        <p:spPr>
          <a:xfrm flipV="1">
            <a:off x="3593432" y="1699587"/>
            <a:ext cx="677778"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304F714-C9CF-94FD-1108-BB76CF5FFA35}"/>
              </a:ext>
            </a:extLst>
          </p:cNvPr>
          <p:cNvCxnSpPr>
            <a:stCxn id="6" idx="1"/>
            <a:endCxn id="5" idx="3"/>
          </p:cNvCxnSpPr>
          <p:nvPr/>
        </p:nvCxnSpPr>
        <p:spPr>
          <a:xfrm flipH="1" flipV="1">
            <a:off x="4872789" y="1699587"/>
            <a:ext cx="637671"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C8C5B-EBDD-BBF7-3A65-0389354DA416}"/>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0D10D632-AB9A-8636-4844-8A57B415B392}"/>
              </a:ext>
            </a:extLst>
          </p:cNvPr>
          <p:cNvGrpSpPr/>
          <p:nvPr/>
        </p:nvGrpSpPr>
        <p:grpSpPr>
          <a:xfrm>
            <a:off x="3011906" y="845905"/>
            <a:ext cx="3120187" cy="3451690"/>
            <a:chOff x="3168316" y="1281810"/>
            <a:chExt cx="3120187" cy="3451690"/>
          </a:xfrm>
        </p:grpSpPr>
        <p:cxnSp>
          <p:nvCxnSpPr>
            <p:cNvPr id="10" name="Straight Arrow Connector 9">
              <a:extLst>
                <a:ext uri="{FF2B5EF4-FFF2-40B4-BE49-F238E27FC236}">
                  <a16:creationId xmlns:a16="http://schemas.microsoft.com/office/drawing/2014/main" id="{13DB5722-B2D4-741C-0237-801A6DBDFE1D}"/>
                </a:ext>
              </a:extLst>
            </p:cNvPr>
            <p:cNvCxnSpPr>
              <a:stCxn id="8" idx="0"/>
            </p:cNvCxnSpPr>
            <p:nvPr/>
          </p:nvCxnSpPr>
          <p:spPr>
            <a:xfrm flipH="1" flipV="1">
              <a:off x="3509211" y="2373549"/>
              <a:ext cx="1" cy="690493"/>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 name="Rounded Rectangle 3">
              <a:extLst>
                <a:ext uri="{FF2B5EF4-FFF2-40B4-BE49-F238E27FC236}">
                  <a16:creationId xmlns:a16="http://schemas.microsoft.com/office/drawing/2014/main" id="{99E98640-5B5F-E9BD-C21B-4BD191BE7883}"/>
                </a:ext>
              </a:extLst>
            </p:cNvPr>
            <p:cNvSpPr/>
            <p:nvPr/>
          </p:nvSpPr>
          <p:spPr>
            <a:xfrm>
              <a:off x="3168316"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9612203E-1AD9-2301-4407-97E2E1CA0CC9}"/>
                </a:ext>
              </a:extLst>
            </p:cNvPr>
            <p:cNvSpPr/>
            <p:nvPr/>
          </p:nvSpPr>
          <p:spPr>
            <a:xfrm>
              <a:off x="4447673" y="12818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A6D3DB07-F5E4-B153-5DCD-2B9B69915184}"/>
                </a:ext>
              </a:extLst>
            </p:cNvPr>
            <p:cNvSpPr/>
            <p:nvPr/>
          </p:nvSpPr>
          <p:spPr>
            <a:xfrm>
              <a:off x="5686923" y="1507275"/>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793D0FB2-2E26-D30B-2021-0D6E66EE8432}"/>
                </a:ext>
              </a:extLst>
            </p:cNvPr>
            <p:cNvSpPr/>
            <p:nvPr/>
          </p:nvSpPr>
          <p:spPr>
            <a:xfrm>
              <a:off x="4447673" y="2587110"/>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928A52EC-0C4B-330D-41E3-FF170C9C27B7}"/>
                </a:ext>
              </a:extLst>
            </p:cNvPr>
            <p:cNvSpPr/>
            <p:nvPr/>
          </p:nvSpPr>
          <p:spPr>
            <a:xfrm>
              <a:off x="3208422"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EC9885E5-4516-E86E-4E15-D4F8897FBAC2}"/>
                </a:ext>
              </a:extLst>
            </p:cNvPr>
            <p:cNvSpPr/>
            <p:nvPr/>
          </p:nvSpPr>
          <p:spPr>
            <a:xfrm>
              <a:off x="5686924" y="3064042"/>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21D8C1C6-C54C-C8D5-CCFD-3A5FCE91AF0D}"/>
                </a:ext>
              </a:extLst>
            </p:cNvPr>
            <p:cNvSpPr/>
            <p:nvPr/>
          </p:nvSpPr>
          <p:spPr>
            <a:xfrm>
              <a:off x="4447673" y="3867226"/>
              <a:ext cx="601579" cy="866274"/>
            </a:xfrm>
            <a:prstGeom prst="roundRect">
              <a:avLst/>
            </a:prstGeom>
            <a:solidFill>
              <a:srgbClr val="E35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ACD6880A-1865-A59E-31FB-B7CCF72890FF}"/>
                </a:ext>
              </a:extLst>
            </p:cNvPr>
            <p:cNvCxnSpPr>
              <a:stCxn id="11" idx="0"/>
              <a:endCxn id="7" idx="2"/>
            </p:cNvCxnSpPr>
            <p:nvPr/>
          </p:nvCxnSpPr>
          <p:spPr>
            <a:xfrm flipV="1">
              <a:off x="4748463" y="3453384"/>
              <a:ext cx="0" cy="413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92768A6-B658-541D-A0E2-45EADE0E6265}"/>
                </a:ext>
              </a:extLst>
            </p:cNvPr>
            <p:cNvCxnSpPr>
              <a:stCxn id="11" idx="1"/>
              <a:endCxn id="8" idx="3"/>
            </p:cNvCxnSpPr>
            <p:nvPr/>
          </p:nvCxnSpPr>
          <p:spPr>
            <a:xfrm flipH="1" flipV="1">
              <a:off x="3810001"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85622E0-478F-DB49-13DD-70B820B8CADB}"/>
                </a:ext>
              </a:extLst>
            </p:cNvPr>
            <p:cNvCxnSpPr>
              <a:stCxn id="11" idx="3"/>
              <a:endCxn id="9" idx="1"/>
            </p:cNvCxnSpPr>
            <p:nvPr/>
          </p:nvCxnSpPr>
          <p:spPr>
            <a:xfrm flipV="1">
              <a:off x="5049252" y="3497179"/>
              <a:ext cx="637672" cy="803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34FB654-3E03-F594-E675-0646E84855E3}"/>
                </a:ext>
              </a:extLst>
            </p:cNvPr>
            <p:cNvCxnSpPr>
              <a:stCxn id="7" idx="0"/>
              <a:endCxn id="5" idx="2"/>
            </p:cNvCxnSpPr>
            <p:nvPr/>
          </p:nvCxnSpPr>
          <p:spPr>
            <a:xfrm flipV="1">
              <a:off x="4748463" y="2148084"/>
              <a:ext cx="0" cy="439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5EBEDF4-7803-BA2D-15B6-CCA8FBA00B76}"/>
                </a:ext>
              </a:extLst>
            </p:cNvPr>
            <p:cNvCxnSpPr>
              <a:stCxn id="9" idx="0"/>
              <a:endCxn id="6" idx="2"/>
            </p:cNvCxnSpPr>
            <p:nvPr/>
          </p:nvCxnSpPr>
          <p:spPr>
            <a:xfrm flipH="1" flipV="1">
              <a:off x="5987713" y="2373549"/>
              <a:ext cx="1" cy="69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BE58C0B-999B-D3F6-DFB1-520EFEDC6BF9}"/>
                </a:ext>
              </a:extLst>
            </p:cNvPr>
            <p:cNvCxnSpPr>
              <a:stCxn id="4" idx="3"/>
              <a:endCxn id="5" idx="1"/>
            </p:cNvCxnSpPr>
            <p:nvPr/>
          </p:nvCxnSpPr>
          <p:spPr>
            <a:xfrm flipV="1">
              <a:off x="3769895" y="1714947"/>
              <a:ext cx="677778"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3319471-6328-83CA-6E83-7118C77BD0EB}"/>
                </a:ext>
              </a:extLst>
            </p:cNvPr>
            <p:cNvCxnSpPr>
              <a:stCxn id="6" idx="1"/>
              <a:endCxn id="5" idx="3"/>
            </p:cNvCxnSpPr>
            <p:nvPr/>
          </p:nvCxnSpPr>
          <p:spPr>
            <a:xfrm flipH="1" flipV="1">
              <a:off x="5049252" y="1714947"/>
              <a:ext cx="637671" cy="225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7379DF28-2559-79AA-A810-4109E14A4D76}"/>
              </a:ext>
            </a:extLst>
          </p:cNvPr>
          <p:cNvGrpSpPr/>
          <p:nvPr/>
        </p:nvGrpSpPr>
        <p:grpSpPr>
          <a:xfrm>
            <a:off x="3081087" y="2707474"/>
            <a:ext cx="543427" cy="740094"/>
            <a:chOff x="3077845" y="1266450"/>
            <a:chExt cx="2413858" cy="2641129"/>
          </a:xfrm>
        </p:grpSpPr>
        <p:sp>
          <p:nvSpPr>
            <p:cNvPr id="2" name="Rounded Rectangle 1">
              <a:extLst>
                <a:ext uri="{FF2B5EF4-FFF2-40B4-BE49-F238E27FC236}">
                  <a16:creationId xmlns:a16="http://schemas.microsoft.com/office/drawing/2014/main" id="{70314F4A-0DB1-3099-C384-2F088EF88FF6}"/>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8466776F-43F3-EBC8-4387-B4624F01A224}"/>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35042B52-0CBE-2FF2-E052-25A80B871970}"/>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ounded Rectangle 20">
              <a:extLst>
                <a:ext uri="{FF2B5EF4-FFF2-40B4-BE49-F238E27FC236}">
                  <a16:creationId xmlns:a16="http://schemas.microsoft.com/office/drawing/2014/main" id="{A7FF9DF3-3A42-77CA-6E2A-C7DE8891D26A}"/>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B923DE7F-385A-9E1E-1D2A-B98C5C0D1A72}"/>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BC06BAD6-9F21-D131-D469-91BBCB6643A6}"/>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C983939E-0FD9-919D-65F0-D277BADFD7CA}"/>
                </a:ext>
              </a:extLst>
            </p:cNvPr>
            <p:cNvCxnSpPr>
              <a:stCxn id="22"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25" name="Rounded Rectangle 24">
              <a:extLst>
                <a:ext uri="{FF2B5EF4-FFF2-40B4-BE49-F238E27FC236}">
                  <a16:creationId xmlns:a16="http://schemas.microsoft.com/office/drawing/2014/main" id="{D8A14050-257E-AA58-F376-7E0489FA45FD}"/>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17C5CEA3-7A8D-5C3A-F4BE-D57D3AA583AE}"/>
                </a:ext>
              </a:extLst>
            </p:cNvPr>
            <p:cNvCxnSpPr>
              <a:stCxn id="25" idx="1"/>
              <a:endCxn id="22"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AE7FE39-1B99-F7FC-E8CC-2C8E2CCBC078}"/>
                </a:ext>
              </a:extLst>
            </p:cNvPr>
            <p:cNvCxnSpPr>
              <a:stCxn id="25" idx="3"/>
              <a:endCxn id="23"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8FF5BA2-D1C7-055A-DDEB-277C83AC41AB}"/>
                </a:ext>
              </a:extLst>
            </p:cNvPr>
            <p:cNvCxnSpPr>
              <a:stCxn id="21" idx="0"/>
              <a:endCxn id="3"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699AAEC-4B5C-41E1-A249-1699879D211E}"/>
                </a:ext>
              </a:extLst>
            </p:cNvPr>
            <p:cNvCxnSpPr>
              <a:stCxn id="23" idx="0"/>
              <a:endCxn id="19"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4701055-904B-3A3A-C94C-9DCB5D33409F}"/>
                </a:ext>
              </a:extLst>
            </p:cNvPr>
            <p:cNvCxnSpPr>
              <a:stCxn id="2" idx="3"/>
              <a:endCxn id="3"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1F916FA-F432-2D5F-BCE2-E67865701933}"/>
                </a:ext>
              </a:extLst>
            </p:cNvPr>
            <p:cNvCxnSpPr>
              <a:stCxn id="19" idx="1"/>
              <a:endCxn id="3"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BE52886-B9D3-5DC1-CC40-01F159C31115}"/>
              </a:ext>
            </a:extLst>
          </p:cNvPr>
          <p:cNvGrpSpPr/>
          <p:nvPr/>
        </p:nvGrpSpPr>
        <p:grpSpPr>
          <a:xfrm>
            <a:off x="3040981" y="1148489"/>
            <a:ext cx="543427" cy="740094"/>
            <a:chOff x="3077845" y="1266450"/>
            <a:chExt cx="2413858" cy="2641129"/>
          </a:xfrm>
        </p:grpSpPr>
        <p:sp>
          <p:nvSpPr>
            <p:cNvPr id="34" name="Rounded Rectangle 33">
              <a:extLst>
                <a:ext uri="{FF2B5EF4-FFF2-40B4-BE49-F238E27FC236}">
                  <a16:creationId xmlns:a16="http://schemas.microsoft.com/office/drawing/2014/main" id="{62C45A12-AFE0-168B-F3A2-EB437472F6C5}"/>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ounded Rectangle 34">
              <a:extLst>
                <a:ext uri="{FF2B5EF4-FFF2-40B4-BE49-F238E27FC236}">
                  <a16:creationId xmlns:a16="http://schemas.microsoft.com/office/drawing/2014/main" id="{9F1C1F1E-CA25-82CC-4E42-EFBFD160B8A2}"/>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EBDC01D3-6C6A-0C38-6F59-5786793860A7}"/>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ounded Rectangle 36">
              <a:extLst>
                <a:ext uri="{FF2B5EF4-FFF2-40B4-BE49-F238E27FC236}">
                  <a16:creationId xmlns:a16="http://schemas.microsoft.com/office/drawing/2014/main" id="{5D8FC8E9-822F-0A8C-C1D4-6E35115711D0}"/>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6287D99E-EA7B-A50D-75F5-1501B81DCB90}"/>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6E2C44DC-22F6-4740-DBFB-660F3E531929}"/>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068D88EC-8235-DDED-1A75-900B8A4440AE}"/>
                </a:ext>
              </a:extLst>
            </p:cNvPr>
            <p:cNvCxnSpPr>
              <a:stCxn id="38"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1" name="Rounded Rectangle 40">
              <a:extLst>
                <a:ext uri="{FF2B5EF4-FFF2-40B4-BE49-F238E27FC236}">
                  <a16:creationId xmlns:a16="http://schemas.microsoft.com/office/drawing/2014/main" id="{D69DC8C5-7776-9C65-87BA-C6325275FC50}"/>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E18F7597-6678-AB8A-16F1-3563F3F24B8E}"/>
                </a:ext>
              </a:extLst>
            </p:cNvPr>
            <p:cNvCxnSpPr>
              <a:stCxn id="41" idx="1"/>
              <a:endCxn id="38"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8814555-89AB-AE0A-220E-2BF124F89EBE}"/>
                </a:ext>
              </a:extLst>
            </p:cNvPr>
            <p:cNvCxnSpPr>
              <a:stCxn id="41" idx="3"/>
              <a:endCxn id="39"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1E25446-0114-8315-F637-4B4B74B5D767}"/>
                </a:ext>
              </a:extLst>
            </p:cNvPr>
            <p:cNvCxnSpPr>
              <a:stCxn id="37" idx="0"/>
              <a:endCxn id="35"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807C0BF-F025-423C-4C12-9699103BAF0A}"/>
                </a:ext>
              </a:extLst>
            </p:cNvPr>
            <p:cNvCxnSpPr>
              <a:stCxn id="39" idx="0"/>
              <a:endCxn id="36"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F65D7F2-318C-E9F1-6BD2-A1ED4686A33F}"/>
                </a:ext>
              </a:extLst>
            </p:cNvPr>
            <p:cNvCxnSpPr>
              <a:stCxn id="34" idx="3"/>
              <a:endCxn id="35"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2A0C212-491F-EC5B-7482-0B7A1650BA7C}"/>
                </a:ext>
              </a:extLst>
            </p:cNvPr>
            <p:cNvCxnSpPr>
              <a:stCxn id="36" idx="1"/>
              <a:endCxn id="35"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4FFA2EB7-7354-7A20-7AAD-F02E38035510}"/>
              </a:ext>
            </a:extLst>
          </p:cNvPr>
          <p:cNvGrpSpPr/>
          <p:nvPr/>
        </p:nvGrpSpPr>
        <p:grpSpPr>
          <a:xfrm>
            <a:off x="4323250" y="2220903"/>
            <a:ext cx="543427" cy="740094"/>
            <a:chOff x="3077845" y="1266450"/>
            <a:chExt cx="2413858" cy="2641129"/>
          </a:xfrm>
        </p:grpSpPr>
        <p:sp>
          <p:nvSpPr>
            <p:cNvPr id="49" name="Rounded Rectangle 48">
              <a:extLst>
                <a:ext uri="{FF2B5EF4-FFF2-40B4-BE49-F238E27FC236}">
                  <a16:creationId xmlns:a16="http://schemas.microsoft.com/office/drawing/2014/main" id="{2510A12A-18C8-38F2-3F0F-72680D79210D}"/>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ounded Rectangle 49">
              <a:extLst>
                <a:ext uri="{FF2B5EF4-FFF2-40B4-BE49-F238E27FC236}">
                  <a16:creationId xmlns:a16="http://schemas.microsoft.com/office/drawing/2014/main" id="{5563D5A8-BBD3-74CE-DBD2-9C22E20562F6}"/>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9E682C82-0A05-75A8-536A-880E3DBFBC53}"/>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ounded Rectangle 51">
              <a:extLst>
                <a:ext uri="{FF2B5EF4-FFF2-40B4-BE49-F238E27FC236}">
                  <a16:creationId xmlns:a16="http://schemas.microsoft.com/office/drawing/2014/main" id="{0B80748E-3C85-EC6F-1905-B9492CA7E1C3}"/>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017C0FD2-E736-E63B-F70E-C583326F3FD2}"/>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AFF60A66-3A08-10FA-BBA3-2FEFF92FAE2D}"/>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48139177-BF11-BC20-561F-20B12BAF768F}"/>
                </a:ext>
              </a:extLst>
            </p:cNvPr>
            <p:cNvCxnSpPr>
              <a:stCxn id="53"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56" name="Rounded Rectangle 55">
              <a:extLst>
                <a:ext uri="{FF2B5EF4-FFF2-40B4-BE49-F238E27FC236}">
                  <a16:creationId xmlns:a16="http://schemas.microsoft.com/office/drawing/2014/main" id="{71E79C08-4451-F784-9803-19C9B4ABFAF3}"/>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2816E23B-75A6-F312-980B-AFD9F9ADB056}"/>
                </a:ext>
              </a:extLst>
            </p:cNvPr>
            <p:cNvCxnSpPr>
              <a:stCxn id="56" idx="1"/>
              <a:endCxn id="53"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ECD0BDE4-B9DF-53A9-363E-2DE51DA53620}"/>
                </a:ext>
              </a:extLst>
            </p:cNvPr>
            <p:cNvCxnSpPr>
              <a:stCxn id="56" idx="3"/>
              <a:endCxn id="54"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58696AC-76E6-14EF-72C3-1255A1B24171}"/>
                </a:ext>
              </a:extLst>
            </p:cNvPr>
            <p:cNvCxnSpPr>
              <a:stCxn id="52" idx="0"/>
              <a:endCxn id="50"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4DA99BA-CC6A-9339-9535-DDF217919AF7}"/>
                </a:ext>
              </a:extLst>
            </p:cNvPr>
            <p:cNvCxnSpPr>
              <a:stCxn id="54" idx="0"/>
              <a:endCxn id="51"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06C8DB1-1E35-F729-37B9-FBA7FAB7A23E}"/>
                </a:ext>
              </a:extLst>
            </p:cNvPr>
            <p:cNvCxnSpPr>
              <a:stCxn id="49" idx="3"/>
              <a:endCxn id="50"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64303928-A659-38E8-4A13-598AABD2D821}"/>
                </a:ext>
              </a:extLst>
            </p:cNvPr>
            <p:cNvCxnSpPr>
              <a:stCxn id="51" idx="1"/>
              <a:endCxn id="50"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3ABB565A-8C8A-B8D6-6878-A9CB492F0A39}"/>
              </a:ext>
            </a:extLst>
          </p:cNvPr>
          <p:cNvGrpSpPr/>
          <p:nvPr/>
        </p:nvGrpSpPr>
        <p:grpSpPr>
          <a:xfrm>
            <a:off x="4320470" y="3498507"/>
            <a:ext cx="543427" cy="740094"/>
            <a:chOff x="3077845" y="1266450"/>
            <a:chExt cx="2413858" cy="2641129"/>
          </a:xfrm>
        </p:grpSpPr>
        <p:sp>
          <p:nvSpPr>
            <p:cNvPr id="64" name="Rounded Rectangle 63">
              <a:extLst>
                <a:ext uri="{FF2B5EF4-FFF2-40B4-BE49-F238E27FC236}">
                  <a16:creationId xmlns:a16="http://schemas.microsoft.com/office/drawing/2014/main" id="{68D4AEE9-45BB-F943-91B7-33AE88F3FAFF}"/>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F85D7815-4EC7-1730-7BB9-FDD0701AAB0D}"/>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ounded Rectangle 65">
              <a:extLst>
                <a:ext uri="{FF2B5EF4-FFF2-40B4-BE49-F238E27FC236}">
                  <a16:creationId xmlns:a16="http://schemas.microsoft.com/office/drawing/2014/main" id="{E8ECCDC7-E667-83B2-EBD3-86AA46AFE82B}"/>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ounded Rectangle 66">
              <a:extLst>
                <a:ext uri="{FF2B5EF4-FFF2-40B4-BE49-F238E27FC236}">
                  <a16:creationId xmlns:a16="http://schemas.microsoft.com/office/drawing/2014/main" id="{CA2624F4-2B12-5BE6-A133-2E460BEAB4F9}"/>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67">
              <a:extLst>
                <a:ext uri="{FF2B5EF4-FFF2-40B4-BE49-F238E27FC236}">
                  <a16:creationId xmlns:a16="http://schemas.microsoft.com/office/drawing/2014/main" id="{DD173560-24E3-2436-9283-9551F0F4231C}"/>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68">
              <a:extLst>
                <a:ext uri="{FF2B5EF4-FFF2-40B4-BE49-F238E27FC236}">
                  <a16:creationId xmlns:a16="http://schemas.microsoft.com/office/drawing/2014/main" id="{6116F4CF-AB78-A771-D48C-CC795C5A93BB}"/>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1DC357A2-5E61-C271-D6FF-1FAEC1917CEF}"/>
                </a:ext>
              </a:extLst>
            </p:cNvPr>
            <p:cNvCxnSpPr>
              <a:stCxn id="68"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71" name="Rounded Rectangle 70">
              <a:extLst>
                <a:ext uri="{FF2B5EF4-FFF2-40B4-BE49-F238E27FC236}">
                  <a16:creationId xmlns:a16="http://schemas.microsoft.com/office/drawing/2014/main" id="{9C8281DB-A955-F24B-6081-06B167F25060}"/>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Arrow Connector 71">
              <a:extLst>
                <a:ext uri="{FF2B5EF4-FFF2-40B4-BE49-F238E27FC236}">
                  <a16:creationId xmlns:a16="http://schemas.microsoft.com/office/drawing/2014/main" id="{22B9431F-74A8-A487-88EB-E236A7F04129}"/>
                </a:ext>
              </a:extLst>
            </p:cNvPr>
            <p:cNvCxnSpPr>
              <a:stCxn id="71" idx="1"/>
              <a:endCxn id="68"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564E9C2-B22E-249F-2D04-B71504BBFD19}"/>
                </a:ext>
              </a:extLst>
            </p:cNvPr>
            <p:cNvCxnSpPr>
              <a:stCxn id="71" idx="3"/>
              <a:endCxn id="69"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C3FA85B-D596-5DFD-D1A1-4600A5113E16}"/>
                </a:ext>
              </a:extLst>
            </p:cNvPr>
            <p:cNvCxnSpPr>
              <a:stCxn id="67" idx="0"/>
              <a:endCxn id="65"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DE75D08B-B0DB-7540-BEF1-C2C06C87EC16}"/>
                </a:ext>
              </a:extLst>
            </p:cNvPr>
            <p:cNvCxnSpPr>
              <a:stCxn id="69" idx="0"/>
              <a:endCxn id="66"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52762CD-E787-EA69-AE39-72E634EF20EB}"/>
                </a:ext>
              </a:extLst>
            </p:cNvPr>
            <p:cNvCxnSpPr>
              <a:stCxn id="64" idx="3"/>
              <a:endCxn id="65"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F8E0D39-7BE5-4277-352D-5F8552EC4E40}"/>
                </a:ext>
              </a:extLst>
            </p:cNvPr>
            <p:cNvCxnSpPr>
              <a:stCxn id="66" idx="1"/>
              <a:endCxn id="65"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9405DDC0-B0F4-5CFB-5066-B844F7C82381}"/>
              </a:ext>
            </a:extLst>
          </p:cNvPr>
          <p:cNvGrpSpPr/>
          <p:nvPr/>
        </p:nvGrpSpPr>
        <p:grpSpPr>
          <a:xfrm>
            <a:off x="4320470" y="913317"/>
            <a:ext cx="543427" cy="740094"/>
            <a:chOff x="3077845" y="1266450"/>
            <a:chExt cx="2413858" cy="2641129"/>
          </a:xfrm>
        </p:grpSpPr>
        <p:sp>
          <p:nvSpPr>
            <p:cNvPr id="79" name="Rounded Rectangle 78">
              <a:extLst>
                <a:ext uri="{FF2B5EF4-FFF2-40B4-BE49-F238E27FC236}">
                  <a16:creationId xmlns:a16="http://schemas.microsoft.com/office/drawing/2014/main" id="{74F01009-340C-B70D-62F5-220F83D6FAE2}"/>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ounded Rectangle 79">
              <a:extLst>
                <a:ext uri="{FF2B5EF4-FFF2-40B4-BE49-F238E27FC236}">
                  <a16:creationId xmlns:a16="http://schemas.microsoft.com/office/drawing/2014/main" id="{F62C610D-70F2-6F66-99F8-719ACEE49C07}"/>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ounded Rectangle 80">
              <a:extLst>
                <a:ext uri="{FF2B5EF4-FFF2-40B4-BE49-F238E27FC236}">
                  <a16:creationId xmlns:a16="http://schemas.microsoft.com/office/drawing/2014/main" id="{548807AA-01E8-86A0-E80E-ADCD57555E2F}"/>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ounded Rectangle 81">
              <a:extLst>
                <a:ext uri="{FF2B5EF4-FFF2-40B4-BE49-F238E27FC236}">
                  <a16:creationId xmlns:a16="http://schemas.microsoft.com/office/drawing/2014/main" id="{980C5D96-A102-FAE3-E1F8-D76CE5117F3E}"/>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ounded Rectangle 82">
              <a:extLst>
                <a:ext uri="{FF2B5EF4-FFF2-40B4-BE49-F238E27FC236}">
                  <a16:creationId xmlns:a16="http://schemas.microsoft.com/office/drawing/2014/main" id="{92892918-C949-05AE-2049-0A1A9D0DBBBF}"/>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ounded Rectangle 83">
              <a:extLst>
                <a:ext uri="{FF2B5EF4-FFF2-40B4-BE49-F238E27FC236}">
                  <a16:creationId xmlns:a16="http://schemas.microsoft.com/office/drawing/2014/main" id="{08BD2027-C575-CCD0-78A7-B006EE6DA5E1}"/>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Arrow Connector 84">
              <a:extLst>
                <a:ext uri="{FF2B5EF4-FFF2-40B4-BE49-F238E27FC236}">
                  <a16:creationId xmlns:a16="http://schemas.microsoft.com/office/drawing/2014/main" id="{F02622DC-0A6F-B3F6-13C1-67D34A3BD61E}"/>
                </a:ext>
              </a:extLst>
            </p:cNvPr>
            <p:cNvCxnSpPr>
              <a:stCxn id="83"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86" name="Rounded Rectangle 85">
              <a:extLst>
                <a:ext uri="{FF2B5EF4-FFF2-40B4-BE49-F238E27FC236}">
                  <a16:creationId xmlns:a16="http://schemas.microsoft.com/office/drawing/2014/main" id="{EA32015C-179E-0B77-C97E-B8D597841160}"/>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Arrow Connector 86">
              <a:extLst>
                <a:ext uri="{FF2B5EF4-FFF2-40B4-BE49-F238E27FC236}">
                  <a16:creationId xmlns:a16="http://schemas.microsoft.com/office/drawing/2014/main" id="{505DD970-EBD2-A555-76DC-7F8E19FDE8EC}"/>
                </a:ext>
              </a:extLst>
            </p:cNvPr>
            <p:cNvCxnSpPr>
              <a:stCxn id="86" idx="1"/>
              <a:endCxn id="83"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BD0B02F0-5029-0B94-845F-C7DDA1FA6847}"/>
                </a:ext>
              </a:extLst>
            </p:cNvPr>
            <p:cNvCxnSpPr>
              <a:stCxn id="86" idx="3"/>
              <a:endCxn id="84"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83B09500-D041-84A8-4AFE-33C46E2A909C}"/>
                </a:ext>
              </a:extLst>
            </p:cNvPr>
            <p:cNvCxnSpPr>
              <a:stCxn id="82" idx="0"/>
              <a:endCxn id="80"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5AB260BA-20E6-F854-41EE-F13FE061A3C2}"/>
                </a:ext>
              </a:extLst>
            </p:cNvPr>
            <p:cNvCxnSpPr>
              <a:stCxn id="84" idx="0"/>
              <a:endCxn id="81"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325DAB5C-6374-59C2-8695-8B7E2B1FF893}"/>
                </a:ext>
              </a:extLst>
            </p:cNvPr>
            <p:cNvCxnSpPr>
              <a:stCxn id="79" idx="3"/>
              <a:endCxn id="80"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AC72D3A2-B45C-0292-98B8-C8B150F8FECB}"/>
                </a:ext>
              </a:extLst>
            </p:cNvPr>
            <p:cNvCxnSpPr>
              <a:stCxn id="81" idx="1"/>
              <a:endCxn id="80"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F452367D-3648-4568-2504-BEBADF927E7B}"/>
              </a:ext>
            </a:extLst>
          </p:cNvPr>
          <p:cNvGrpSpPr/>
          <p:nvPr/>
        </p:nvGrpSpPr>
        <p:grpSpPr>
          <a:xfrm>
            <a:off x="5559087" y="2708674"/>
            <a:ext cx="543427" cy="740094"/>
            <a:chOff x="3077845" y="1266450"/>
            <a:chExt cx="2413858" cy="2641129"/>
          </a:xfrm>
        </p:grpSpPr>
        <p:sp>
          <p:nvSpPr>
            <p:cNvPr id="94" name="Rounded Rectangle 93">
              <a:extLst>
                <a:ext uri="{FF2B5EF4-FFF2-40B4-BE49-F238E27FC236}">
                  <a16:creationId xmlns:a16="http://schemas.microsoft.com/office/drawing/2014/main" id="{4293C070-C50B-3866-2E6E-241ACF182160}"/>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ounded Rectangle 94">
              <a:extLst>
                <a:ext uri="{FF2B5EF4-FFF2-40B4-BE49-F238E27FC236}">
                  <a16:creationId xmlns:a16="http://schemas.microsoft.com/office/drawing/2014/main" id="{69E16420-D116-E188-99AA-0FFEC3702F1F}"/>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ed Rectangle 95">
              <a:extLst>
                <a:ext uri="{FF2B5EF4-FFF2-40B4-BE49-F238E27FC236}">
                  <a16:creationId xmlns:a16="http://schemas.microsoft.com/office/drawing/2014/main" id="{F8A6CFA4-1F6D-797C-E907-58A26FA6B978}"/>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ounded Rectangle 96">
              <a:extLst>
                <a:ext uri="{FF2B5EF4-FFF2-40B4-BE49-F238E27FC236}">
                  <a16:creationId xmlns:a16="http://schemas.microsoft.com/office/drawing/2014/main" id="{A2E10975-9071-781F-05DA-B242DDEED5A1}"/>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ounded Rectangle 97">
              <a:extLst>
                <a:ext uri="{FF2B5EF4-FFF2-40B4-BE49-F238E27FC236}">
                  <a16:creationId xmlns:a16="http://schemas.microsoft.com/office/drawing/2014/main" id="{4B860C88-4ECC-B42F-0286-E4C83E4E471F}"/>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ounded Rectangle 98">
              <a:extLst>
                <a:ext uri="{FF2B5EF4-FFF2-40B4-BE49-F238E27FC236}">
                  <a16:creationId xmlns:a16="http://schemas.microsoft.com/office/drawing/2014/main" id="{0CA351F5-9979-F2A2-0D68-EF075FCCAE91}"/>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Arrow Connector 99">
              <a:extLst>
                <a:ext uri="{FF2B5EF4-FFF2-40B4-BE49-F238E27FC236}">
                  <a16:creationId xmlns:a16="http://schemas.microsoft.com/office/drawing/2014/main" id="{77EBC700-9D73-2699-09B1-5564D2093A20}"/>
                </a:ext>
              </a:extLst>
            </p:cNvPr>
            <p:cNvCxnSpPr>
              <a:stCxn id="98"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01" name="Rounded Rectangle 100">
              <a:extLst>
                <a:ext uri="{FF2B5EF4-FFF2-40B4-BE49-F238E27FC236}">
                  <a16:creationId xmlns:a16="http://schemas.microsoft.com/office/drawing/2014/main" id="{B8243A43-8F2C-D79A-E5E1-18076610FC2D}"/>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Arrow Connector 101">
              <a:extLst>
                <a:ext uri="{FF2B5EF4-FFF2-40B4-BE49-F238E27FC236}">
                  <a16:creationId xmlns:a16="http://schemas.microsoft.com/office/drawing/2014/main" id="{BD6B3DC0-2AEF-2C68-6535-CDE80EA6E945}"/>
                </a:ext>
              </a:extLst>
            </p:cNvPr>
            <p:cNvCxnSpPr>
              <a:stCxn id="101" idx="1"/>
              <a:endCxn id="98"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D7B4DB17-BCEA-AA40-0926-7D181AB86B18}"/>
                </a:ext>
              </a:extLst>
            </p:cNvPr>
            <p:cNvCxnSpPr>
              <a:stCxn id="101" idx="3"/>
              <a:endCxn id="99"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2F00AC6A-D0A9-8021-8136-B811DB543ED8}"/>
                </a:ext>
              </a:extLst>
            </p:cNvPr>
            <p:cNvCxnSpPr>
              <a:stCxn id="97" idx="0"/>
              <a:endCxn id="95"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E1668FC2-6CF9-5766-CF40-592993530F97}"/>
                </a:ext>
              </a:extLst>
            </p:cNvPr>
            <p:cNvCxnSpPr>
              <a:stCxn id="99" idx="0"/>
              <a:endCxn id="96"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F1C886FC-928F-90CA-7400-51BB32C66BAD}"/>
                </a:ext>
              </a:extLst>
            </p:cNvPr>
            <p:cNvCxnSpPr>
              <a:stCxn id="94" idx="3"/>
              <a:endCxn id="95"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ADDC1E35-2E3E-2A48-EBB4-409A868E90AA}"/>
                </a:ext>
              </a:extLst>
            </p:cNvPr>
            <p:cNvCxnSpPr>
              <a:stCxn id="96" idx="1"/>
              <a:endCxn id="95"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8" name="Group 107">
            <a:extLst>
              <a:ext uri="{FF2B5EF4-FFF2-40B4-BE49-F238E27FC236}">
                <a16:creationId xmlns:a16="http://schemas.microsoft.com/office/drawing/2014/main" id="{BCC13641-4A8B-EA56-6732-700E8A43F2AE}"/>
              </a:ext>
            </a:extLst>
          </p:cNvPr>
          <p:cNvGrpSpPr/>
          <p:nvPr/>
        </p:nvGrpSpPr>
        <p:grpSpPr>
          <a:xfrm>
            <a:off x="5559087" y="1139074"/>
            <a:ext cx="543427" cy="740094"/>
            <a:chOff x="3077845" y="1266450"/>
            <a:chExt cx="2413858" cy="2641129"/>
          </a:xfrm>
        </p:grpSpPr>
        <p:sp>
          <p:nvSpPr>
            <p:cNvPr id="109" name="Rounded Rectangle 108">
              <a:extLst>
                <a:ext uri="{FF2B5EF4-FFF2-40B4-BE49-F238E27FC236}">
                  <a16:creationId xmlns:a16="http://schemas.microsoft.com/office/drawing/2014/main" id="{872470E0-C82E-C531-7296-8EED1E746629}"/>
                </a:ext>
              </a:extLst>
            </p:cNvPr>
            <p:cNvSpPr/>
            <p:nvPr/>
          </p:nvSpPr>
          <p:spPr>
            <a:xfrm>
              <a:off x="307784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Rounded Rectangle 109">
              <a:extLst>
                <a:ext uri="{FF2B5EF4-FFF2-40B4-BE49-F238E27FC236}">
                  <a16:creationId xmlns:a16="http://schemas.microsoft.com/office/drawing/2014/main" id="{A0431E76-76FD-6582-E305-5E1EA932F727}"/>
                </a:ext>
              </a:extLst>
            </p:cNvPr>
            <p:cNvSpPr/>
            <p:nvPr/>
          </p:nvSpPr>
          <p:spPr>
            <a:xfrm>
              <a:off x="4067589" y="126645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110">
              <a:extLst>
                <a:ext uri="{FF2B5EF4-FFF2-40B4-BE49-F238E27FC236}">
                  <a16:creationId xmlns:a16="http://schemas.microsoft.com/office/drawing/2014/main" id="{CC97CCD5-D03C-1B04-44B3-9DF8AB550F8B}"/>
                </a:ext>
              </a:extLst>
            </p:cNvPr>
            <p:cNvSpPr/>
            <p:nvPr/>
          </p:nvSpPr>
          <p:spPr>
            <a:xfrm>
              <a:off x="5026305" y="1438969"/>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ounded Rectangle 111">
              <a:extLst>
                <a:ext uri="{FF2B5EF4-FFF2-40B4-BE49-F238E27FC236}">
                  <a16:creationId xmlns:a16="http://schemas.microsoft.com/office/drawing/2014/main" id="{BCA989C1-B2BD-1330-AAAE-16BA4265B448}"/>
                </a:ext>
              </a:extLst>
            </p:cNvPr>
            <p:cNvSpPr/>
            <p:nvPr/>
          </p:nvSpPr>
          <p:spPr>
            <a:xfrm>
              <a:off x="4067589" y="2265226"/>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ounded Rectangle 112">
              <a:extLst>
                <a:ext uri="{FF2B5EF4-FFF2-40B4-BE49-F238E27FC236}">
                  <a16:creationId xmlns:a16="http://schemas.microsoft.com/office/drawing/2014/main" id="{AD1011FC-25CE-BB5D-ACBF-120954D7A126}"/>
                </a:ext>
              </a:extLst>
            </p:cNvPr>
            <p:cNvSpPr/>
            <p:nvPr/>
          </p:nvSpPr>
          <p:spPr>
            <a:xfrm>
              <a:off x="3108872"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ounded Rectangle 113">
              <a:extLst>
                <a:ext uri="{FF2B5EF4-FFF2-40B4-BE49-F238E27FC236}">
                  <a16:creationId xmlns:a16="http://schemas.microsoft.com/office/drawing/2014/main" id="{E4133983-6B37-DCC1-07DF-A1144C0E0B64}"/>
                </a:ext>
              </a:extLst>
            </p:cNvPr>
            <p:cNvSpPr/>
            <p:nvPr/>
          </p:nvSpPr>
          <p:spPr>
            <a:xfrm>
              <a:off x="5026306" y="2630160"/>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 name="Straight Arrow Connector 114">
              <a:extLst>
                <a:ext uri="{FF2B5EF4-FFF2-40B4-BE49-F238E27FC236}">
                  <a16:creationId xmlns:a16="http://schemas.microsoft.com/office/drawing/2014/main" id="{4B0E4F6A-CC5A-3813-C198-5BC78B58BE52}"/>
                </a:ext>
              </a:extLst>
            </p:cNvPr>
            <p:cNvCxnSpPr>
              <a:stCxn id="113" idx="0"/>
            </p:cNvCxnSpPr>
            <p:nvPr/>
          </p:nvCxnSpPr>
          <p:spPr>
            <a:xfrm flipH="1" flipV="1">
              <a:off x="3341570" y="2101816"/>
              <a:ext cx="1" cy="528344"/>
            </a:xfrm>
            <a:prstGeom prst="straightConnector1">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16" name="Rounded Rectangle 115">
              <a:extLst>
                <a:ext uri="{FF2B5EF4-FFF2-40B4-BE49-F238E27FC236}">
                  <a16:creationId xmlns:a16="http://schemas.microsoft.com/office/drawing/2014/main" id="{8358F2CD-DAB2-EF52-7845-E630C40DC36F}"/>
                </a:ext>
              </a:extLst>
            </p:cNvPr>
            <p:cNvSpPr/>
            <p:nvPr/>
          </p:nvSpPr>
          <p:spPr>
            <a:xfrm>
              <a:off x="4067589" y="3244732"/>
              <a:ext cx="465397" cy="66284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7" name="Straight Arrow Connector 116">
              <a:extLst>
                <a:ext uri="{FF2B5EF4-FFF2-40B4-BE49-F238E27FC236}">
                  <a16:creationId xmlns:a16="http://schemas.microsoft.com/office/drawing/2014/main" id="{6E8715C7-B42C-FE73-EEE0-A90BB5DFD398}"/>
                </a:ext>
              </a:extLst>
            </p:cNvPr>
            <p:cNvCxnSpPr>
              <a:stCxn id="116" idx="1"/>
              <a:endCxn id="113" idx="3"/>
            </p:cNvCxnSpPr>
            <p:nvPr/>
          </p:nvCxnSpPr>
          <p:spPr>
            <a:xfrm flipH="1" flipV="1">
              <a:off x="3574269"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FBC3CBC-9CC1-0A42-7BB5-402DC44B4AA2}"/>
                </a:ext>
              </a:extLst>
            </p:cNvPr>
            <p:cNvCxnSpPr>
              <a:stCxn id="116" idx="3"/>
              <a:endCxn id="114" idx="1"/>
            </p:cNvCxnSpPr>
            <p:nvPr/>
          </p:nvCxnSpPr>
          <p:spPr>
            <a:xfrm flipV="1">
              <a:off x="4532986" y="2961583"/>
              <a:ext cx="493320" cy="61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17BAC254-3322-9F69-8855-B9A240ABE327}"/>
                </a:ext>
              </a:extLst>
            </p:cNvPr>
            <p:cNvCxnSpPr>
              <a:stCxn id="112" idx="0"/>
              <a:endCxn id="110" idx="2"/>
            </p:cNvCxnSpPr>
            <p:nvPr/>
          </p:nvCxnSpPr>
          <p:spPr>
            <a:xfrm flipV="1">
              <a:off x="4300288" y="1929297"/>
              <a:ext cx="0" cy="33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CC437B55-6640-2365-A44B-57F2A978A534}"/>
                </a:ext>
              </a:extLst>
            </p:cNvPr>
            <p:cNvCxnSpPr>
              <a:stCxn id="114" idx="0"/>
              <a:endCxn id="111" idx="2"/>
            </p:cNvCxnSpPr>
            <p:nvPr/>
          </p:nvCxnSpPr>
          <p:spPr>
            <a:xfrm flipH="1" flipV="1">
              <a:off x="5259004" y="2101816"/>
              <a:ext cx="1" cy="528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719F3EDD-729A-810D-210D-34983C450513}"/>
                </a:ext>
              </a:extLst>
            </p:cNvPr>
            <p:cNvCxnSpPr>
              <a:stCxn id="109" idx="3"/>
              <a:endCxn id="110" idx="1"/>
            </p:cNvCxnSpPr>
            <p:nvPr/>
          </p:nvCxnSpPr>
          <p:spPr>
            <a:xfrm flipV="1">
              <a:off x="3543242" y="1597873"/>
              <a:ext cx="524347"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ED253666-1DE6-1527-CCCB-9D8FDAEDA02D}"/>
                </a:ext>
              </a:extLst>
            </p:cNvPr>
            <p:cNvCxnSpPr>
              <a:stCxn id="111" idx="1"/>
              <a:endCxn id="110" idx="3"/>
            </p:cNvCxnSpPr>
            <p:nvPr/>
          </p:nvCxnSpPr>
          <p:spPr>
            <a:xfrm flipH="1" flipV="1">
              <a:off x="4532986" y="1597873"/>
              <a:ext cx="493319" cy="172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56166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prstGeom prst="rect">
            <a:avLst/>
          </a:prstGeom>
        </p:spPr>
        <p:txBody>
          <a:bodyPr spcFirstLastPara="1" wrap="square" lIns="91425" tIns="91425" rIns="91425" bIns="91425" anchor="t" anchorCtr="0">
            <a:normAutofit fontScale="90000"/>
          </a:bodyPr>
          <a:lstStyle/>
          <a:p>
            <a:r>
              <a:rPr lang="en-US" dirty="0"/>
              <a:t>The Actual Supply Chain</a:t>
            </a:r>
            <a:endParaRPr dirty="0"/>
          </a:p>
        </p:txBody>
      </p:sp>
      <p:pic>
        <p:nvPicPr>
          <p:cNvPr id="3" name="Picture 2">
            <a:extLst>
              <a:ext uri="{FF2B5EF4-FFF2-40B4-BE49-F238E27FC236}">
                <a16:creationId xmlns:a16="http://schemas.microsoft.com/office/drawing/2014/main" id="{A29BAA54-AD36-4CEA-CD88-DD8C04F5F4D3}"/>
              </a:ext>
            </a:extLst>
          </p:cNvPr>
          <p:cNvPicPr>
            <a:picLocks noChangeAspect="1"/>
          </p:cNvPicPr>
          <p:nvPr/>
        </p:nvPicPr>
        <p:blipFill>
          <a:blip r:embed="rId3"/>
          <a:stretch>
            <a:fillRect/>
          </a:stretch>
        </p:blipFill>
        <p:spPr>
          <a:xfrm>
            <a:off x="2340865" y="1017801"/>
            <a:ext cx="5594477" cy="4067651"/>
          </a:xfrm>
          <a:prstGeom prst="rect">
            <a:avLst/>
          </a:prstGeom>
        </p:spPr>
      </p:pic>
    </p:spTree>
    <p:extLst>
      <p:ext uri="{BB962C8B-B14F-4D97-AF65-F5344CB8AC3E}">
        <p14:creationId xmlns:p14="http://schemas.microsoft.com/office/powerpoint/2010/main" val="1027338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4CB83-9DED-15CD-0D0B-D6AA1CF36646}"/>
              </a:ext>
            </a:extLst>
          </p:cNvPr>
          <p:cNvSpPr>
            <a:spLocks noGrp="1"/>
          </p:cNvSpPr>
          <p:nvPr>
            <p:ph type="title"/>
          </p:nvPr>
        </p:nvSpPr>
        <p:spPr/>
        <p:txBody>
          <a:bodyPr>
            <a:normAutofit fontScale="90000"/>
          </a:bodyPr>
          <a:lstStyle/>
          <a:p>
            <a:r>
              <a:rPr lang="en-SG" b="1" dirty="0"/>
              <a:t>Security Assurance Is Increasingly Urgent</a:t>
            </a:r>
            <a:endParaRPr lang="en-SG" dirty="0"/>
          </a:p>
        </p:txBody>
      </p:sp>
      <p:sp>
        <p:nvSpPr>
          <p:cNvPr id="3" name="Text Placeholder 2">
            <a:extLst>
              <a:ext uri="{FF2B5EF4-FFF2-40B4-BE49-F238E27FC236}">
                <a16:creationId xmlns:a16="http://schemas.microsoft.com/office/drawing/2014/main" id="{A1F71306-E114-0B8C-15FD-C13D40C1BAD9}"/>
              </a:ext>
            </a:extLst>
          </p:cNvPr>
          <p:cNvSpPr>
            <a:spLocks noGrp="1"/>
          </p:cNvSpPr>
          <p:nvPr>
            <p:ph type="body" idx="1"/>
          </p:nvPr>
        </p:nvSpPr>
        <p:spPr/>
        <p:txBody>
          <a:bodyPr/>
          <a:lstStyle/>
          <a:p>
            <a:r>
              <a:rPr lang="en-SG" b="1" dirty="0" err="1"/>
              <a:t>eMudhra</a:t>
            </a:r>
            <a:r>
              <a:rPr lang="en-SG" b="1" dirty="0"/>
              <a:t> CA Key Compromise </a:t>
            </a:r>
            <a:r>
              <a:rPr lang="en-SG" dirty="0"/>
              <a:t>CVE-2026-111943 CVE-2026-91403</a:t>
            </a:r>
            <a:endParaRPr lang="en-US" dirty="0"/>
          </a:p>
          <a:p>
            <a:pPr lvl="1"/>
            <a:r>
              <a:rPr lang="en-SG" dirty="0"/>
              <a:t>Weak private keys for eight intermediate CAs exposed clients still trusting them to forged HTTPS certificates.</a:t>
            </a:r>
          </a:p>
          <a:p>
            <a:r>
              <a:rPr lang="en-SG" b="1" dirty="0"/>
              <a:t>PHP Critical Vulnerabilities</a:t>
            </a:r>
            <a:r>
              <a:rPr lang="zh-CN" altLang="en-US" b="1" dirty="0"/>
              <a:t> </a:t>
            </a:r>
            <a:r>
              <a:rPr lang="en-SG" dirty="0"/>
              <a:t>CVE-2026-109618</a:t>
            </a:r>
            <a:r>
              <a:rPr lang="zh-CN" altLang="en-US" dirty="0"/>
              <a:t> </a:t>
            </a:r>
            <a:r>
              <a:rPr lang="en-SG" dirty="0"/>
              <a:t>CVE-2026-109619</a:t>
            </a:r>
          </a:p>
          <a:p>
            <a:pPr lvl="1"/>
            <a:r>
              <a:rPr lang="en-SG" dirty="0"/>
              <a:t>Two flaws could allow unauthenticated remote code execution. PHP released emergency fixes on 21 October 2026.</a:t>
            </a:r>
            <a:endParaRPr lang="en-US" dirty="0"/>
          </a:p>
          <a:p>
            <a:endParaRPr lang="en-SG" dirty="0"/>
          </a:p>
        </p:txBody>
      </p:sp>
      <p:sp>
        <p:nvSpPr>
          <p:cNvPr id="6" name="TextBox 5">
            <a:extLst>
              <a:ext uri="{FF2B5EF4-FFF2-40B4-BE49-F238E27FC236}">
                <a16:creationId xmlns:a16="http://schemas.microsoft.com/office/drawing/2014/main" id="{54C470B9-96A7-993C-94F7-70141E58B592}"/>
              </a:ext>
            </a:extLst>
          </p:cNvPr>
          <p:cNvSpPr txBox="1"/>
          <p:nvPr/>
        </p:nvSpPr>
        <p:spPr>
          <a:xfrm>
            <a:off x="853608" y="3873433"/>
            <a:ext cx="2200588"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Font typeface="Arial"/>
              <a:buNone/>
            </a:pPr>
            <a:r>
              <a:rPr lang="en-SG" sz="1800" dirty="0" err="1"/>
              <a:t>php</a:t>
            </a:r>
            <a:r>
              <a:rPr lang="zh-CN" altLang="en-US" sz="1800" dirty="0"/>
              <a:t> </a:t>
            </a:r>
            <a:r>
              <a:rPr lang="en-US" altLang="zh-CN" sz="1800" dirty="0"/>
              <a:t>packages</a:t>
            </a:r>
            <a:endParaRPr lang="en-SG" sz="1800" dirty="0"/>
          </a:p>
        </p:txBody>
      </p:sp>
      <p:sp>
        <p:nvSpPr>
          <p:cNvPr id="8" name="TextBox 7">
            <a:extLst>
              <a:ext uri="{FF2B5EF4-FFF2-40B4-BE49-F238E27FC236}">
                <a16:creationId xmlns:a16="http://schemas.microsoft.com/office/drawing/2014/main" id="{573E5B46-72CE-2740-0BAA-2F6E15DAD709}"/>
              </a:ext>
            </a:extLst>
          </p:cNvPr>
          <p:cNvSpPr txBox="1"/>
          <p:nvPr/>
        </p:nvSpPr>
        <p:spPr>
          <a:xfrm>
            <a:off x="853608" y="3422594"/>
            <a:ext cx="220058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SG" sz="1800" dirty="0"/>
              <a:t>ca-certificates, </a:t>
            </a:r>
            <a:r>
              <a:rPr lang="en-SG" sz="1800" dirty="0" err="1"/>
              <a:t>nss</a:t>
            </a:r>
            <a:endParaRPr lang="en-SG" sz="1800" dirty="0"/>
          </a:p>
        </p:txBody>
      </p:sp>
      <p:sp>
        <p:nvSpPr>
          <p:cNvPr id="9" name="TextBox 8">
            <a:extLst>
              <a:ext uri="{FF2B5EF4-FFF2-40B4-BE49-F238E27FC236}">
                <a16:creationId xmlns:a16="http://schemas.microsoft.com/office/drawing/2014/main" id="{849F8B91-4D71-A330-490C-2CB257523D18}"/>
              </a:ext>
            </a:extLst>
          </p:cNvPr>
          <p:cNvSpPr txBox="1"/>
          <p:nvPr/>
        </p:nvSpPr>
        <p:spPr>
          <a:xfrm>
            <a:off x="4499253" y="3923674"/>
            <a:ext cx="2924774"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SG" dirty="0"/>
              <a:t>Browsers</a:t>
            </a:r>
          </a:p>
        </p:txBody>
      </p:sp>
      <p:sp>
        <p:nvSpPr>
          <p:cNvPr id="10" name="TextBox 9">
            <a:extLst>
              <a:ext uri="{FF2B5EF4-FFF2-40B4-BE49-F238E27FC236}">
                <a16:creationId xmlns:a16="http://schemas.microsoft.com/office/drawing/2014/main" id="{A7225087-4102-B861-A10B-DEE47A554C91}"/>
              </a:ext>
            </a:extLst>
          </p:cNvPr>
          <p:cNvSpPr txBox="1"/>
          <p:nvPr/>
        </p:nvSpPr>
        <p:spPr>
          <a:xfrm>
            <a:off x="4499253" y="2801525"/>
            <a:ext cx="2924774"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SG" dirty="0"/>
              <a:t>Operating systems</a:t>
            </a:r>
          </a:p>
        </p:txBody>
      </p:sp>
      <p:sp>
        <p:nvSpPr>
          <p:cNvPr id="11" name="TextBox 10">
            <a:extLst>
              <a:ext uri="{FF2B5EF4-FFF2-40B4-BE49-F238E27FC236}">
                <a16:creationId xmlns:a16="http://schemas.microsoft.com/office/drawing/2014/main" id="{5E4FA520-FD75-EFE7-CE53-B8EBA1D66EBF}"/>
              </a:ext>
            </a:extLst>
          </p:cNvPr>
          <p:cNvSpPr txBox="1"/>
          <p:nvPr/>
        </p:nvSpPr>
        <p:spPr>
          <a:xfrm>
            <a:off x="4499254" y="4295384"/>
            <a:ext cx="2924774"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SG" dirty="0"/>
              <a:t>PHP runtimes and web services</a:t>
            </a:r>
          </a:p>
        </p:txBody>
      </p:sp>
      <p:sp>
        <p:nvSpPr>
          <p:cNvPr id="13" name="TextBox 12">
            <a:extLst>
              <a:ext uri="{FF2B5EF4-FFF2-40B4-BE49-F238E27FC236}">
                <a16:creationId xmlns:a16="http://schemas.microsoft.com/office/drawing/2014/main" id="{21036E69-F173-9A16-C558-B588FEC42439}"/>
              </a:ext>
            </a:extLst>
          </p:cNvPr>
          <p:cNvSpPr txBox="1"/>
          <p:nvPr/>
        </p:nvSpPr>
        <p:spPr>
          <a:xfrm>
            <a:off x="4499254" y="4659891"/>
            <a:ext cx="2924774"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SG" dirty="0"/>
              <a:t>Container and cloud images</a:t>
            </a:r>
          </a:p>
        </p:txBody>
      </p:sp>
      <p:sp>
        <p:nvSpPr>
          <p:cNvPr id="15" name="Right Arrow 14">
            <a:extLst>
              <a:ext uri="{FF2B5EF4-FFF2-40B4-BE49-F238E27FC236}">
                <a16:creationId xmlns:a16="http://schemas.microsoft.com/office/drawing/2014/main" id="{C3CCED4C-90CE-CBCD-CED7-5492260D7822}"/>
              </a:ext>
            </a:extLst>
          </p:cNvPr>
          <p:cNvSpPr/>
          <p:nvPr/>
        </p:nvSpPr>
        <p:spPr>
          <a:xfrm>
            <a:off x="3279933" y="3642881"/>
            <a:ext cx="1034981" cy="4611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B6846F0-E8C7-9AB8-B185-26615CB8F60D}"/>
              </a:ext>
            </a:extLst>
          </p:cNvPr>
          <p:cNvSpPr txBox="1"/>
          <p:nvPr/>
        </p:nvSpPr>
        <p:spPr>
          <a:xfrm>
            <a:off x="4499254" y="3179969"/>
            <a:ext cx="2924774"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SG" dirty="0"/>
              <a:t>Base</a:t>
            </a:r>
            <a:r>
              <a:rPr lang="zh-CN" altLang="en-US" dirty="0"/>
              <a:t> </a:t>
            </a:r>
            <a:r>
              <a:rPr lang="en-US" altLang="zh-CN" dirty="0"/>
              <a:t>libraries and </a:t>
            </a:r>
            <a:r>
              <a:rPr lang="zh-CN" altLang="en-US" dirty="0"/>
              <a:t> </a:t>
            </a:r>
            <a:r>
              <a:rPr lang="en-US" altLang="zh-CN" dirty="0"/>
              <a:t>Runtime</a:t>
            </a:r>
            <a:endParaRPr lang="en-SG" dirty="0"/>
          </a:p>
        </p:txBody>
      </p:sp>
      <p:sp>
        <p:nvSpPr>
          <p:cNvPr id="17" name="TextBox 16">
            <a:extLst>
              <a:ext uri="{FF2B5EF4-FFF2-40B4-BE49-F238E27FC236}">
                <a16:creationId xmlns:a16="http://schemas.microsoft.com/office/drawing/2014/main" id="{289FDBC7-6721-488D-D27C-433834A840E4}"/>
              </a:ext>
            </a:extLst>
          </p:cNvPr>
          <p:cNvSpPr txBox="1"/>
          <p:nvPr/>
        </p:nvSpPr>
        <p:spPr>
          <a:xfrm>
            <a:off x="4499254" y="3552092"/>
            <a:ext cx="2924774"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SG" dirty="0"/>
              <a:t>Go, Python, Rust, Java, Node.js </a:t>
            </a:r>
          </a:p>
        </p:txBody>
      </p:sp>
    </p:spTree>
    <p:extLst>
      <p:ext uri="{BB962C8B-B14F-4D97-AF65-F5344CB8AC3E}">
        <p14:creationId xmlns:p14="http://schemas.microsoft.com/office/powerpoint/2010/main" val="1045765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7" name="TextBox 6">
            <a:extLst>
              <a:ext uri="{FF2B5EF4-FFF2-40B4-BE49-F238E27FC236}">
                <a16:creationId xmlns:a16="http://schemas.microsoft.com/office/drawing/2014/main" id="{698B03F9-9D0E-AADB-7394-AE33EA322ABC}"/>
              </a:ext>
            </a:extLst>
          </p:cNvPr>
          <p:cNvSpPr txBox="1"/>
          <p:nvPr/>
        </p:nvSpPr>
        <p:spPr>
          <a:xfrm>
            <a:off x="4086515" y="4747517"/>
            <a:ext cx="3481156" cy="253916"/>
          </a:xfrm>
          <a:prstGeom prst="rect">
            <a:avLst/>
          </a:prstGeom>
          <a:noFill/>
        </p:spPr>
        <p:txBody>
          <a:bodyPr wrap="square" rtlCol="0">
            <a:spAutoFit/>
          </a:bodyPr>
          <a:lstStyle/>
          <a:p>
            <a:pPr algn="r"/>
            <a:r>
              <a:rPr lang="en-US" sz="1050" dirty="0">
                <a:solidFill>
                  <a:schemeClr val="tx1"/>
                </a:solidFill>
              </a:rPr>
              <a:t>Black Duck OSSRA Report 2026</a:t>
            </a:r>
            <a:endParaRPr lang="en-JP" sz="1050" dirty="0">
              <a:solidFill>
                <a:schemeClr val="tx1"/>
              </a:solidFill>
            </a:endParaRPr>
          </a:p>
        </p:txBody>
      </p:sp>
      <p:sp>
        <p:nvSpPr>
          <p:cNvPr id="9" name="Title 8">
            <a:extLst>
              <a:ext uri="{FF2B5EF4-FFF2-40B4-BE49-F238E27FC236}">
                <a16:creationId xmlns:a16="http://schemas.microsoft.com/office/drawing/2014/main" id="{7F366851-B82C-7386-43F1-998B9ACB8C5B}"/>
              </a:ext>
            </a:extLst>
          </p:cNvPr>
          <p:cNvSpPr>
            <a:spLocks noGrp="1"/>
          </p:cNvSpPr>
          <p:nvPr>
            <p:ph type="title"/>
          </p:nvPr>
        </p:nvSpPr>
        <p:spPr/>
        <p:txBody>
          <a:bodyPr>
            <a:normAutofit fontScale="90000"/>
          </a:bodyPr>
          <a:lstStyle/>
          <a:p>
            <a:r>
              <a:rPr lang="en-US" dirty="0"/>
              <a:t>Global Codebase Statistics</a:t>
            </a:r>
            <a:endParaRPr lang="en-JP" dirty="0"/>
          </a:p>
        </p:txBody>
      </p:sp>
      <p:sp>
        <p:nvSpPr>
          <p:cNvPr id="11" name="Text Placeholder 10">
            <a:extLst>
              <a:ext uri="{FF2B5EF4-FFF2-40B4-BE49-F238E27FC236}">
                <a16:creationId xmlns:a16="http://schemas.microsoft.com/office/drawing/2014/main" id="{B243E98C-BFBC-3D62-DC05-305E81635112}"/>
              </a:ext>
            </a:extLst>
          </p:cNvPr>
          <p:cNvSpPr>
            <a:spLocks noGrp="1"/>
          </p:cNvSpPr>
          <p:nvPr>
            <p:ph type="body" idx="1"/>
          </p:nvPr>
        </p:nvSpPr>
        <p:spPr/>
        <p:txBody>
          <a:bodyPr>
            <a:normAutofit/>
          </a:bodyPr>
          <a:lstStyle/>
          <a:p>
            <a:r>
              <a:rPr lang="en-US" sz="2400" dirty="0"/>
              <a:t>98% use open source</a:t>
            </a:r>
          </a:p>
          <a:p>
            <a:endParaRPr lang="en-US" sz="2400" dirty="0"/>
          </a:p>
          <a:p>
            <a:r>
              <a:rPr lang="en-US" sz="2400" dirty="0"/>
              <a:t>68% have license compliance issues</a:t>
            </a:r>
          </a:p>
          <a:p>
            <a:endParaRPr lang="en-US" sz="2400" dirty="0"/>
          </a:p>
          <a:p>
            <a:r>
              <a:rPr lang="en-US" sz="2400" dirty="0"/>
              <a:t>87% have security issues</a:t>
            </a:r>
          </a:p>
        </p:txBody>
      </p:sp>
      <p:pic>
        <p:nvPicPr>
          <p:cNvPr id="4" name="Picture 3">
            <a:extLst>
              <a:ext uri="{FF2B5EF4-FFF2-40B4-BE49-F238E27FC236}">
                <a16:creationId xmlns:a16="http://schemas.microsoft.com/office/drawing/2014/main" id="{485AF685-91E7-2CF9-5795-6F6C5F208963}"/>
              </a:ext>
            </a:extLst>
          </p:cNvPr>
          <p:cNvPicPr>
            <a:picLocks noChangeAspect="1"/>
          </p:cNvPicPr>
          <p:nvPr/>
        </p:nvPicPr>
        <p:blipFill>
          <a:blip r:embed="rId3"/>
          <a:stretch>
            <a:fillRect/>
          </a:stretch>
        </p:blipFill>
        <p:spPr>
          <a:xfrm>
            <a:off x="7468028" y="3467528"/>
            <a:ext cx="1675972" cy="1675972"/>
          </a:xfrm>
          <a:prstGeom prst="rect">
            <a:avLst/>
          </a:prstGeom>
        </p:spPr>
      </p:pic>
    </p:spTree>
    <p:extLst>
      <p:ext uri="{BB962C8B-B14F-4D97-AF65-F5344CB8AC3E}">
        <p14:creationId xmlns:p14="http://schemas.microsoft.com/office/powerpoint/2010/main" val="1196064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CAE7A-964E-D700-97E7-F57D0588D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B0B92-90CC-2CB4-D515-C307B7408023}"/>
              </a:ext>
            </a:extLst>
          </p:cNvPr>
          <p:cNvSpPr>
            <a:spLocks noGrp="1"/>
          </p:cNvSpPr>
          <p:nvPr>
            <p:ph type="ctrTitle"/>
          </p:nvPr>
        </p:nvSpPr>
        <p:spPr>
          <a:xfrm>
            <a:off x="598100" y="1226378"/>
            <a:ext cx="6378700" cy="1894500"/>
          </a:xfrm>
        </p:spPr>
        <p:txBody>
          <a:bodyPr>
            <a:normAutofit fontScale="90000"/>
          </a:bodyPr>
          <a:lstStyle/>
          <a:p>
            <a:r>
              <a:rPr lang="en-US" dirty="0"/>
              <a:t>We Needed To Improve Trust In The Supply Chain</a:t>
            </a:r>
          </a:p>
        </p:txBody>
      </p:sp>
    </p:spTree>
    <p:extLst>
      <p:ext uri="{BB962C8B-B14F-4D97-AF65-F5344CB8AC3E}">
        <p14:creationId xmlns:p14="http://schemas.microsoft.com/office/powerpoint/2010/main" val="1539138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6837B-DC9E-379D-98D3-A700D8699E79}"/>
              </a:ext>
            </a:extLst>
          </p:cNvPr>
          <p:cNvSpPr>
            <a:spLocks noGrp="1"/>
          </p:cNvSpPr>
          <p:nvPr>
            <p:ph type="title"/>
          </p:nvPr>
        </p:nvSpPr>
        <p:spPr/>
        <p:txBody>
          <a:bodyPr>
            <a:normAutofit fontScale="90000"/>
          </a:bodyPr>
          <a:lstStyle/>
          <a:p>
            <a:r>
              <a:rPr lang="en-JP" dirty="0"/>
              <a:t>Projects Working On This Emerged…</a:t>
            </a:r>
          </a:p>
        </p:txBody>
      </p:sp>
      <p:pic>
        <p:nvPicPr>
          <p:cNvPr id="5" name="Graphic 4">
            <a:extLst>
              <a:ext uri="{FF2B5EF4-FFF2-40B4-BE49-F238E27FC236}">
                <a16:creationId xmlns:a16="http://schemas.microsoft.com/office/drawing/2014/main" id="{608BF452-E2D5-D280-F3BD-2DE03C291A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7533" y="2122564"/>
            <a:ext cx="3363136" cy="898372"/>
          </a:xfrm>
          <a:prstGeom prst="rect">
            <a:avLst/>
          </a:prstGeom>
        </p:spPr>
      </p:pic>
      <p:pic>
        <p:nvPicPr>
          <p:cNvPr id="7" name="Picture 6" descr="A logo with blue and orange circles&#10;&#10;AI-generated content may be incorrect.">
            <a:extLst>
              <a:ext uri="{FF2B5EF4-FFF2-40B4-BE49-F238E27FC236}">
                <a16:creationId xmlns:a16="http://schemas.microsoft.com/office/drawing/2014/main" id="{7D494920-D0DA-72F3-DED3-F2BE9AED57E3}"/>
              </a:ext>
            </a:extLst>
          </p:cNvPr>
          <p:cNvPicPr>
            <a:picLocks noChangeAspect="1"/>
          </p:cNvPicPr>
          <p:nvPr/>
        </p:nvPicPr>
        <p:blipFill>
          <a:blip r:embed="rId4"/>
          <a:stretch>
            <a:fillRect/>
          </a:stretch>
        </p:blipFill>
        <p:spPr>
          <a:xfrm>
            <a:off x="5053332" y="1628275"/>
            <a:ext cx="2942825" cy="1684348"/>
          </a:xfrm>
          <a:prstGeom prst="rect">
            <a:avLst/>
          </a:prstGeom>
        </p:spPr>
      </p:pic>
      <p:sp>
        <p:nvSpPr>
          <p:cNvPr id="10" name="TextBox 9">
            <a:extLst>
              <a:ext uri="{FF2B5EF4-FFF2-40B4-BE49-F238E27FC236}">
                <a16:creationId xmlns:a16="http://schemas.microsoft.com/office/drawing/2014/main" id="{05A0E9C2-50D8-1DCF-CB02-BD8E25BD7521}"/>
              </a:ext>
            </a:extLst>
          </p:cNvPr>
          <p:cNvSpPr txBox="1"/>
          <p:nvPr/>
        </p:nvSpPr>
        <p:spPr>
          <a:xfrm>
            <a:off x="1710031" y="3615320"/>
            <a:ext cx="1398140" cy="307777"/>
          </a:xfrm>
          <a:prstGeom prst="rect">
            <a:avLst/>
          </a:prstGeom>
          <a:noFill/>
        </p:spPr>
        <p:txBody>
          <a:bodyPr wrap="none" rtlCol="0">
            <a:spAutoFit/>
          </a:bodyPr>
          <a:lstStyle/>
          <a:p>
            <a:r>
              <a:rPr lang="en-JP" dirty="0"/>
              <a:t>2010 onward…</a:t>
            </a:r>
          </a:p>
        </p:txBody>
      </p:sp>
      <p:sp>
        <p:nvSpPr>
          <p:cNvPr id="11" name="TextBox 10">
            <a:extLst>
              <a:ext uri="{FF2B5EF4-FFF2-40B4-BE49-F238E27FC236}">
                <a16:creationId xmlns:a16="http://schemas.microsoft.com/office/drawing/2014/main" id="{18AF2BB1-B26D-842A-C6DA-418B94701D71}"/>
              </a:ext>
            </a:extLst>
          </p:cNvPr>
          <p:cNvSpPr txBox="1"/>
          <p:nvPr/>
        </p:nvSpPr>
        <p:spPr>
          <a:xfrm>
            <a:off x="5825674" y="3615319"/>
            <a:ext cx="1398140" cy="307777"/>
          </a:xfrm>
          <a:prstGeom prst="rect">
            <a:avLst/>
          </a:prstGeom>
          <a:noFill/>
        </p:spPr>
        <p:txBody>
          <a:bodyPr wrap="none" rtlCol="0">
            <a:spAutoFit/>
          </a:bodyPr>
          <a:lstStyle/>
          <a:p>
            <a:r>
              <a:rPr lang="en-JP" dirty="0"/>
              <a:t>2015 onward…</a:t>
            </a:r>
          </a:p>
        </p:txBody>
      </p:sp>
    </p:spTree>
    <p:extLst>
      <p:ext uri="{BB962C8B-B14F-4D97-AF65-F5344CB8AC3E}">
        <p14:creationId xmlns:p14="http://schemas.microsoft.com/office/powerpoint/2010/main" val="2278410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E54BD-5729-240E-ACFA-5F9DF1DF0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D66D5-5274-20ED-568A-F0EFDBB73F1C}"/>
              </a:ext>
            </a:extLst>
          </p:cNvPr>
          <p:cNvSpPr>
            <a:spLocks noGrp="1"/>
          </p:cNvSpPr>
          <p:nvPr>
            <p:ph type="title"/>
          </p:nvPr>
        </p:nvSpPr>
        <p:spPr/>
        <p:txBody>
          <a:bodyPr>
            <a:normAutofit fontScale="90000"/>
          </a:bodyPr>
          <a:lstStyle/>
          <a:p>
            <a:r>
              <a:rPr lang="en-JP" dirty="0"/>
              <a:t>OpenChain Makes Guides, Specs, Standards… +</a:t>
            </a:r>
          </a:p>
        </p:txBody>
      </p:sp>
      <p:sp>
        <p:nvSpPr>
          <p:cNvPr id="3" name="Text Placeholder 2">
            <a:extLst>
              <a:ext uri="{FF2B5EF4-FFF2-40B4-BE49-F238E27FC236}">
                <a16:creationId xmlns:a16="http://schemas.microsoft.com/office/drawing/2014/main" id="{20CDAB0E-DB67-1D41-5E1C-631462184B24}"/>
              </a:ext>
            </a:extLst>
          </p:cNvPr>
          <p:cNvSpPr>
            <a:spLocks noGrp="1"/>
          </p:cNvSpPr>
          <p:nvPr>
            <p:ph type="body" idx="1"/>
          </p:nvPr>
        </p:nvSpPr>
        <p:spPr/>
        <p:txBody>
          <a:bodyPr/>
          <a:lstStyle/>
          <a:p>
            <a:pPr marL="114300" indent="0" algn="ctr">
              <a:buNone/>
            </a:pPr>
            <a:r>
              <a:rPr lang="en-JP" dirty="0"/>
              <a:t>We Study</a:t>
            </a:r>
            <a:br>
              <a:rPr lang="en-JP" dirty="0"/>
            </a:br>
            <a:r>
              <a:rPr lang="en-JP" dirty="0"/>
              <a:t> </a:t>
            </a:r>
          </a:p>
          <a:p>
            <a:pPr marL="114300" indent="0" algn="ctr">
              <a:buNone/>
            </a:pPr>
            <a:r>
              <a:rPr lang="en-JP" dirty="0"/>
              <a:t>We Brainstorm</a:t>
            </a:r>
            <a:br>
              <a:rPr lang="en-JP" dirty="0"/>
            </a:br>
            <a:endParaRPr lang="en-JP" dirty="0">
              <a:solidFill>
                <a:srgbClr val="00B050"/>
              </a:solidFill>
            </a:endParaRPr>
          </a:p>
          <a:p>
            <a:pPr marL="114300" indent="0" algn="ctr">
              <a:buNone/>
            </a:pPr>
            <a:r>
              <a:rPr lang="en-JP" dirty="0"/>
              <a:t>We Make a Guide (if useful)</a:t>
            </a:r>
            <a:br>
              <a:rPr lang="en-JP" dirty="0"/>
            </a:br>
            <a:endParaRPr lang="en-JP" dirty="0">
              <a:solidFill>
                <a:srgbClr val="00B050"/>
              </a:solidFill>
            </a:endParaRPr>
          </a:p>
          <a:p>
            <a:pPr marL="114300" indent="0" algn="ctr">
              <a:buNone/>
            </a:pPr>
            <a:r>
              <a:rPr lang="en-JP" dirty="0"/>
              <a:t>We Make a Specification (if useful)</a:t>
            </a:r>
            <a:br>
              <a:rPr lang="en-JP" dirty="0"/>
            </a:br>
            <a:endParaRPr lang="en-JP" dirty="0"/>
          </a:p>
          <a:p>
            <a:pPr marL="114300" indent="0" algn="ctr">
              <a:buNone/>
            </a:pPr>
            <a:r>
              <a:rPr lang="en-JP" dirty="0"/>
              <a:t>We Make a Standard (if useful)</a:t>
            </a:r>
          </a:p>
        </p:txBody>
      </p:sp>
      <p:sp>
        <p:nvSpPr>
          <p:cNvPr id="4" name="Down Arrow 3">
            <a:extLst>
              <a:ext uri="{FF2B5EF4-FFF2-40B4-BE49-F238E27FC236}">
                <a16:creationId xmlns:a16="http://schemas.microsoft.com/office/drawing/2014/main" id="{F6C5C520-7EC0-5803-3DEA-C9C91F335500}"/>
              </a:ext>
            </a:extLst>
          </p:cNvPr>
          <p:cNvSpPr/>
          <p:nvPr/>
        </p:nvSpPr>
        <p:spPr>
          <a:xfrm>
            <a:off x="4470185" y="1766047"/>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9" name="Down Arrow 8">
            <a:extLst>
              <a:ext uri="{FF2B5EF4-FFF2-40B4-BE49-F238E27FC236}">
                <a16:creationId xmlns:a16="http://schemas.microsoft.com/office/drawing/2014/main" id="{F57486B6-C0F3-CA00-0273-DA415021B6A7}"/>
              </a:ext>
            </a:extLst>
          </p:cNvPr>
          <p:cNvSpPr/>
          <p:nvPr/>
        </p:nvSpPr>
        <p:spPr>
          <a:xfrm>
            <a:off x="4470185" y="2374526"/>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0" name="Down Arrow 9">
            <a:extLst>
              <a:ext uri="{FF2B5EF4-FFF2-40B4-BE49-F238E27FC236}">
                <a16:creationId xmlns:a16="http://schemas.microsoft.com/office/drawing/2014/main" id="{A0214C43-F36F-95D4-52A8-F8B1DA4F5AE2}"/>
              </a:ext>
            </a:extLst>
          </p:cNvPr>
          <p:cNvSpPr/>
          <p:nvPr/>
        </p:nvSpPr>
        <p:spPr>
          <a:xfrm>
            <a:off x="4470185" y="2983006"/>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Down Arrow 10">
            <a:extLst>
              <a:ext uri="{FF2B5EF4-FFF2-40B4-BE49-F238E27FC236}">
                <a16:creationId xmlns:a16="http://schemas.microsoft.com/office/drawing/2014/main" id="{A55A4E29-9180-5F04-4BC9-41C0BA30B797}"/>
              </a:ext>
            </a:extLst>
          </p:cNvPr>
          <p:cNvSpPr/>
          <p:nvPr/>
        </p:nvSpPr>
        <p:spPr>
          <a:xfrm>
            <a:off x="4470185" y="3632762"/>
            <a:ext cx="215153" cy="197224"/>
          </a:xfrm>
          <a:prstGeom prst="downArrow">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 name="TextBox 4">
            <a:extLst>
              <a:ext uri="{FF2B5EF4-FFF2-40B4-BE49-F238E27FC236}">
                <a16:creationId xmlns:a16="http://schemas.microsoft.com/office/drawing/2014/main" id="{755EC531-C63B-BFFA-2150-D8DD9111D89D}"/>
              </a:ext>
            </a:extLst>
          </p:cNvPr>
          <p:cNvSpPr txBox="1"/>
          <p:nvPr/>
        </p:nvSpPr>
        <p:spPr>
          <a:xfrm rot="19948694">
            <a:off x="6807201" y="1885285"/>
            <a:ext cx="2007668" cy="1569660"/>
          </a:xfrm>
          <a:prstGeom prst="rect">
            <a:avLst/>
          </a:prstGeom>
          <a:noFill/>
        </p:spPr>
        <p:txBody>
          <a:bodyPr wrap="square" rtlCol="0">
            <a:spAutoFit/>
          </a:bodyPr>
          <a:lstStyle/>
          <a:p>
            <a:pPr algn="ctr"/>
            <a:r>
              <a:rPr lang="en-US" sz="2400" dirty="0">
                <a:solidFill>
                  <a:srgbClr val="FF0000"/>
                </a:solidFill>
                <a:latin typeface="Chalkduster" panose="03050602040202020205" pitchFamily="66" charset="77"/>
              </a:rPr>
              <a:t>And supporting reference material!</a:t>
            </a:r>
          </a:p>
        </p:txBody>
      </p:sp>
    </p:spTree>
    <p:extLst>
      <p:ext uri="{BB962C8B-B14F-4D97-AF65-F5344CB8AC3E}">
        <p14:creationId xmlns:p14="http://schemas.microsoft.com/office/powerpoint/2010/main" val="2936681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a:extLst>
              <a:ext uri="{FF2B5EF4-FFF2-40B4-BE49-F238E27FC236}">
                <a16:creationId xmlns:a16="http://schemas.microsoft.com/office/drawing/2014/main" id="{5DBA3875-74B8-C043-4D9B-9D84F846D950}"/>
              </a:ext>
            </a:extLst>
          </p:cNvPr>
          <p:cNvSpPr/>
          <p:nvPr/>
        </p:nvSpPr>
        <p:spPr>
          <a:xfrm>
            <a:off x="3940810" y="2161094"/>
            <a:ext cx="2340787" cy="396000"/>
          </a:xfrm>
          <a:prstGeom prst="roundRect">
            <a:avLst/>
          </a:prstGeom>
          <a:solidFill>
            <a:srgbClr val="00AEBB"/>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A17D492E-27B2-091B-0440-133A778E7F47}"/>
              </a:ext>
            </a:extLst>
          </p:cNvPr>
          <p:cNvSpPr/>
          <p:nvPr/>
        </p:nvSpPr>
        <p:spPr>
          <a:xfrm>
            <a:off x="2985733" y="1068251"/>
            <a:ext cx="4249783" cy="3959134"/>
          </a:xfrm>
          <a:prstGeom prst="triangle">
            <a:avLst/>
          </a:prstGeom>
          <a:solidFill>
            <a:srgbClr val="E35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D93CE1-1348-96B7-5BB9-A31523713772}"/>
              </a:ext>
            </a:extLst>
          </p:cNvPr>
          <p:cNvSpPr>
            <a:spLocks noGrp="1"/>
          </p:cNvSpPr>
          <p:nvPr>
            <p:ph type="title"/>
          </p:nvPr>
        </p:nvSpPr>
        <p:spPr/>
        <p:txBody>
          <a:bodyPr>
            <a:normAutofit fontScale="90000"/>
          </a:bodyPr>
          <a:lstStyle/>
          <a:p>
            <a:r>
              <a:rPr lang="en-US" dirty="0"/>
              <a:t>We Provide A High Level Process Solution</a:t>
            </a:r>
          </a:p>
        </p:txBody>
      </p:sp>
      <p:sp>
        <p:nvSpPr>
          <p:cNvPr id="4" name="Triangle 3">
            <a:extLst>
              <a:ext uri="{FF2B5EF4-FFF2-40B4-BE49-F238E27FC236}">
                <a16:creationId xmlns:a16="http://schemas.microsoft.com/office/drawing/2014/main" id="{17C29B0C-3BC1-A924-7BBC-26295263E25D}"/>
              </a:ext>
            </a:extLst>
          </p:cNvPr>
          <p:cNvSpPr/>
          <p:nvPr/>
        </p:nvSpPr>
        <p:spPr>
          <a:xfrm>
            <a:off x="3601865" y="1064965"/>
            <a:ext cx="3017518" cy="2819057"/>
          </a:xfrm>
          <a:prstGeom prst="triangle">
            <a:avLst/>
          </a:prstGeom>
          <a:solidFill>
            <a:srgbClr val="0281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84D2FDFC-B5B0-841E-F371-9309A234B631}"/>
              </a:ext>
            </a:extLst>
          </p:cNvPr>
          <p:cNvSpPr/>
          <p:nvPr/>
        </p:nvSpPr>
        <p:spPr>
          <a:xfrm>
            <a:off x="4217923" y="1064965"/>
            <a:ext cx="1780975" cy="1659786"/>
          </a:xfrm>
          <a:prstGeom prst="triangle">
            <a:avLst/>
          </a:prstGeom>
          <a:solidFill>
            <a:srgbClr val="00AE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9DBC75B-547B-349E-0344-C74AA10B25CC}"/>
              </a:ext>
            </a:extLst>
          </p:cNvPr>
          <p:cNvSpPr txBox="1"/>
          <p:nvPr/>
        </p:nvSpPr>
        <p:spPr>
          <a:xfrm>
            <a:off x="1337733" y="1786888"/>
            <a:ext cx="2007668" cy="738664"/>
          </a:xfrm>
          <a:prstGeom prst="rect">
            <a:avLst/>
          </a:prstGeom>
          <a:noFill/>
        </p:spPr>
        <p:txBody>
          <a:bodyPr wrap="square" rtlCol="0">
            <a:spAutoFit/>
          </a:bodyPr>
          <a:lstStyle/>
          <a:p>
            <a:pPr algn="r"/>
            <a:r>
              <a:rPr lang="en-US" dirty="0"/>
              <a:t>Process Management Standards, Guides and Reference Material</a:t>
            </a:r>
          </a:p>
        </p:txBody>
      </p:sp>
      <p:sp>
        <p:nvSpPr>
          <p:cNvPr id="8" name="TextBox 7">
            <a:extLst>
              <a:ext uri="{FF2B5EF4-FFF2-40B4-BE49-F238E27FC236}">
                <a16:creationId xmlns:a16="http://schemas.microsoft.com/office/drawing/2014/main" id="{D0B9F00F-C28D-E938-D71E-464E323853B2}"/>
              </a:ext>
            </a:extLst>
          </p:cNvPr>
          <p:cNvSpPr txBox="1"/>
          <p:nvPr/>
        </p:nvSpPr>
        <p:spPr>
          <a:xfrm>
            <a:off x="998311" y="2896383"/>
            <a:ext cx="2273379" cy="307777"/>
          </a:xfrm>
          <a:prstGeom prst="rect">
            <a:avLst/>
          </a:prstGeom>
          <a:noFill/>
        </p:spPr>
        <p:txBody>
          <a:bodyPr wrap="none" rtlCol="0">
            <a:spAutoFit/>
          </a:bodyPr>
          <a:lstStyle/>
          <a:p>
            <a:pPr algn="r"/>
            <a:r>
              <a:rPr lang="en-US" dirty="0"/>
              <a:t>Implementation Standards</a:t>
            </a:r>
          </a:p>
        </p:txBody>
      </p:sp>
      <p:sp>
        <p:nvSpPr>
          <p:cNvPr id="9" name="TextBox 8">
            <a:extLst>
              <a:ext uri="{FF2B5EF4-FFF2-40B4-BE49-F238E27FC236}">
                <a16:creationId xmlns:a16="http://schemas.microsoft.com/office/drawing/2014/main" id="{21F9A3F4-117C-7EA7-453A-5BB3CD5A4ADF}"/>
              </a:ext>
            </a:extLst>
          </p:cNvPr>
          <p:cNvSpPr txBox="1"/>
          <p:nvPr/>
        </p:nvSpPr>
        <p:spPr>
          <a:xfrm>
            <a:off x="432017" y="3689897"/>
            <a:ext cx="2143004" cy="738664"/>
          </a:xfrm>
          <a:prstGeom prst="rect">
            <a:avLst/>
          </a:prstGeom>
          <a:noFill/>
        </p:spPr>
        <p:txBody>
          <a:bodyPr wrap="square" rtlCol="0">
            <a:spAutoFit/>
          </a:bodyPr>
          <a:lstStyle/>
          <a:p>
            <a:pPr algn="r"/>
            <a:r>
              <a:rPr lang="en-US" dirty="0"/>
              <a:t>Implementation Guides, Reference Material and Metrics</a:t>
            </a:r>
          </a:p>
        </p:txBody>
      </p:sp>
      <p:cxnSp>
        <p:nvCxnSpPr>
          <p:cNvPr id="23" name="Straight Arrow Connector 22">
            <a:extLst>
              <a:ext uri="{FF2B5EF4-FFF2-40B4-BE49-F238E27FC236}">
                <a16:creationId xmlns:a16="http://schemas.microsoft.com/office/drawing/2014/main" id="{CE96899D-B9C8-55F7-5980-3E662B1A8615}"/>
              </a:ext>
            </a:extLst>
          </p:cNvPr>
          <p:cNvCxnSpPr>
            <a:cxnSpLocks/>
          </p:cNvCxnSpPr>
          <p:nvPr/>
        </p:nvCxnSpPr>
        <p:spPr>
          <a:xfrm>
            <a:off x="3271690" y="3108478"/>
            <a:ext cx="637084" cy="167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DA303C1F-100F-5D6F-A14D-FF3C53839148}"/>
              </a:ext>
            </a:extLst>
          </p:cNvPr>
          <p:cNvSpPr/>
          <p:nvPr/>
        </p:nvSpPr>
        <p:spPr>
          <a:xfrm>
            <a:off x="3971544" y="2180011"/>
            <a:ext cx="2273731" cy="357720"/>
          </a:xfrm>
          <a:prstGeom prst="roundRect">
            <a:avLst/>
          </a:prstGeom>
          <a:solidFill>
            <a:schemeClr val="bg1"/>
          </a:solidFill>
          <a:ln w="6350">
            <a:solidFill>
              <a:srgbClr val="00AEB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293CF1D9-BB0C-A346-45E1-20D189C6DBC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91294" y="2221096"/>
            <a:ext cx="2044329" cy="275551"/>
          </a:xfrm>
          <a:prstGeom prst="rect">
            <a:avLst/>
          </a:prstGeom>
        </p:spPr>
      </p:pic>
      <p:grpSp>
        <p:nvGrpSpPr>
          <p:cNvPr id="26" name="Group 25">
            <a:extLst>
              <a:ext uri="{FF2B5EF4-FFF2-40B4-BE49-F238E27FC236}">
                <a16:creationId xmlns:a16="http://schemas.microsoft.com/office/drawing/2014/main" id="{73C44673-CEA6-9060-F3F5-959FA7A117BE}"/>
              </a:ext>
            </a:extLst>
          </p:cNvPr>
          <p:cNvGrpSpPr/>
          <p:nvPr/>
        </p:nvGrpSpPr>
        <p:grpSpPr>
          <a:xfrm>
            <a:off x="4496081" y="3161392"/>
            <a:ext cx="1224658" cy="323766"/>
            <a:chOff x="4066313" y="3161392"/>
            <a:chExt cx="1224658" cy="323766"/>
          </a:xfrm>
        </p:grpSpPr>
        <p:sp>
          <p:nvSpPr>
            <p:cNvPr id="18" name="Rounded Rectangle 17">
              <a:extLst>
                <a:ext uri="{FF2B5EF4-FFF2-40B4-BE49-F238E27FC236}">
                  <a16:creationId xmlns:a16="http://schemas.microsoft.com/office/drawing/2014/main" id="{CF1BFB1C-B93B-9E45-C24E-0AC397BBBD61}"/>
                </a:ext>
              </a:extLst>
            </p:cNvPr>
            <p:cNvSpPr/>
            <p:nvPr/>
          </p:nvSpPr>
          <p:spPr>
            <a:xfrm>
              <a:off x="4066313" y="3161392"/>
              <a:ext cx="1224658" cy="323766"/>
            </a:xfrm>
            <a:prstGeom prst="roundRect">
              <a:avLst/>
            </a:prstGeom>
            <a:solidFill>
              <a:schemeClr val="bg1"/>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oogle Shape;265;p40">
              <a:extLst>
                <a:ext uri="{FF2B5EF4-FFF2-40B4-BE49-F238E27FC236}">
                  <a16:creationId xmlns:a16="http://schemas.microsoft.com/office/drawing/2014/main" id="{5A5614B1-EFBD-DF5B-B265-7DBF06AB7BC6}"/>
                </a:ext>
              </a:extLst>
            </p:cNvPr>
            <p:cNvPicPr preferRelativeResize="0">
              <a:picLocks noChangeAspect="1"/>
            </p:cNvPicPr>
            <p:nvPr/>
          </p:nvPicPr>
          <p:blipFill>
            <a:blip r:embed="rId4">
              <a:alphaModFix/>
            </a:blip>
            <a:stretch>
              <a:fillRect/>
            </a:stretch>
          </p:blipFill>
          <p:spPr>
            <a:xfrm>
              <a:off x="4164127" y="3211986"/>
              <a:ext cx="1036011" cy="244711"/>
            </a:xfrm>
            <a:prstGeom prst="rect">
              <a:avLst/>
            </a:prstGeom>
            <a:noFill/>
            <a:ln>
              <a:noFill/>
            </a:ln>
          </p:spPr>
        </p:pic>
      </p:grpSp>
      <p:grpSp>
        <p:nvGrpSpPr>
          <p:cNvPr id="24" name="Group 23">
            <a:extLst>
              <a:ext uri="{FF2B5EF4-FFF2-40B4-BE49-F238E27FC236}">
                <a16:creationId xmlns:a16="http://schemas.microsoft.com/office/drawing/2014/main" id="{82227A08-5930-EE67-B098-BEC2AA09DFB9}"/>
              </a:ext>
            </a:extLst>
          </p:cNvPr>
          <p:cNvGrpSpPr/>
          <p:nvPr/>
        </p:nvGrpSpPr>
        <p:grpSpPr>
          <a:xfrm>
            <a:off x="3928873" y="4313124"/>
            <a:ext cx="2359074" cy="485661"/>
            <a:chOff x="3360031" y="4282403"/>
            <a:chExt cx="2359074" cy="485661"/>
          </a:xfrm>
        </p:grpSpPr>
        <p:sp>
          <p:nvSpPr>
            <p:cNvPr id="20" name="Rounded Rectangle 19">
              <a:extLst>
                <a:ext uri="{FF2B5EF4-FFF2-40B4-BE49-F238E27FC236}">
                  <a16:creationId xmlns:a16="http://schemas.microsoft.com/office/drawing/2014/main" id="{2FCA00A8-F98B-03BD-7F1E-2243784EF3EF}"/>
                </a:ext>
              </a:extLst>
            </p:cNvPr>
            <p:cNvSpPr/>
            <p:nvPr/>
          </p:nvSpPr>
          <p:spPr>
            <a:xfrm>
              <a:off x="3360031" y="4282403"/>
              <a:ext cx="1037935" cy="485661"/>
            </a:xfrm>
            <a:prstGeom prst="roundRect">
              <a:avLst/>
            </a:prstGeom>
            <a:solidFill>
              <a:schemeClr val="bg1"/>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A black background with a letter and a circle&#10;&#10;Description automatically generated">
              <a:extLst>
                <a:ext uri="{FF2B5EF4-FFF2-40B4-BE49-F238E27FC236}">
                  <a16:creationId xmlns:a16="http://schemas.microsoft.com/office/drawing/2014/main" id="{893E7B30-0277-5377-A2DF-8364267CECC1}"/>
                </a:ext>
              </a:extLst>
            </p:cNvPr>
            <p:cNvPicPr>
              <a:picLocks noChangeAspect="1"/>
            </p:cNvPicPr>
            <p:nvPr/>
          </p:nvPicPr>
          <p:blipFill>
            <a:blip r:embed="rId5"/>
            <a:stretch>
              <a:fillRect/>
            </a:stretch>
          </p:blipFill>
          <p:spPr>
            <a:xfrm>
              <a:off x="3479006" y="4467558"/>
              <a:ext cx="799987" cy="166664"/>
            </a:xfrm>
            <a:prstGeom prst="rect">
              <a:avLst/>
            </a:prstGeom>
          </p:spPr>
        </p:pic>
        <p:sp>
          <p:nvSpPr>
            <p:cNvPr id="22" name="Rounded Rectangle 21">
              <a:extLst>
                <a:ext uri="{FF2B5EF4-FFF2-40B4-BE49-F238E27FC236}">
                  <a16:creationId xmlns:a16="http://schemas.microsoft.com/office/drawing/2014/main" id="{3C47B6BF-801D-115E-C2D3-CCA02BDCF83F}"/>
                </a:ext>
              </a:extLst>
            </p:cNvPr>
            <p:cNvSpPr/>
            <p:nvPr/>
          </p:nvSpPr>
          <p:spPr>
            <a:xfrm>
              <a:off x="4681170" y="4282403"/>
              <a:ext cx="1037935" cy="485661"/>
            </a:xfrm>
            <a:prstGeom prst="roundRect">
              <a:avLst/>
            </a:prstGeom>
            <a:solidFill>
              <a:schemeClr val="bg1"/>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descr="A green circle with black background&#10;&#10;Description automatically generated">
              <a:extLst>
                <a:ext uri="{FF2B5EF4-FFF2-40B4-BE49-F238E27FC236}">
                  <a16:creationId xmlns:a16="http://schemas.microsoft.com/office/drawing/2014/main" id="{7C8B21DB-DD0C-3E88-A818-01D8ACB385A0}"/>
                </a:ext>
              </a:extLst>
            </p:cNvPr>
            <p:cNvPicPr>
              <a:picLocks noChangeAspect="1"/>
            </p:cNvPicPr>
            <p:nvPr/>
          </p:nvPicPr>
          <p:blipFill>
            <a:blip r:embed="rId6"/>
            <a:stretch>
              <a:fillRect/>
            </a:stretch>
          </p:blipFill>
          <p:spPr>
            <a:xfrm>
              <a:off x="4740757" y="4348549"/>
              <a:ext cx="918762" cy="353370"/>
            </a:xfrm>
            <a:prstGeom prst="rect">
              <a:avLst/>
            </a:prstGeom>
          </p:spPr>
        </p:pic>
      </p:grpSp>
      <p:cxnSp>
        <p:nvCxnSpPr>
          <p:cNvPr id="33" name="Straight Arrow Connector 32">
            <a:extLst>
              <a:ext uri="{FF2B5EF4-FFF2-40B4-BE49-F238E27FC236}">
                <a16:creationId xmlns:a16="http://schemas.microsoft.com/office/drawing/2014/main" id="{F4CCA77A-261A-0EAA-1BC5-7CB48790694D}"/>
              </a:ext>
            </a:extLst>
          </p:cNvPr>
          <p:cNvCxnSpPr>
            <a:cxnSpLocks/>
          </p:cNvCxnSpPr>
          <p:nvPr/>
        </p:nvCxnSpPr>
        <p:spPr>
          <a:xfrm>
            <a:off x="2634606" y="4199235"/>
            <a:ext cx="637084" cy="167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357EC70-6415-AD28-43DA-F18352B01C93}"/>
              </a:ext>
            </a:extLst>
          </p:cNvPr>
          <p:cNvCxnSpPr>
            <a:cxnSpLocks/>
          </p:cNvCxnSpPr>
          <p:nvPr/>
        </p:nvCxnSpPr>
        <p:spPr>
          <a:xfrm>
            <a:off x="3382273" y="2131880"/>
            <a:ext cx="521665" cy="143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932A0DB3-805D-AC8F-7318-BFF648AFF42A}"/>
              </a:ext>
            </a:extLst>
          </p:cNvPr>
          <p:cNvSpPr/>
          <p:nvPr/>
        </p:nvSpPr>
        <p:spPr>
          <a:xfrm>
            <a:off x="432016" y="1404139"/>
            <a:ext cx="6682658" cy="144457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5315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205EC1-7C13-3C5A-1877-F6A2B0732469}"/>
              </a:ext>
            </a:extLst>
          </p:cNvPr>
          <p:cNvSpPr>
            <a:spLocks noGrp="1"/>
          </p:cNvSpPr>
          <p:nvPr>
            <p:ph type="title"/>
          </p:nvPr>
        </p:nvSpPr>
        <p:spPr/>
        <p:txBody>
          <a:bodyPr>
            <a:normAutofit fontScale="90000"/>
          </a:bodyPr>
          <a:lstStyle/>
          <a:p>
            <a:r>
              <a:rPr lang="en-JP" dirty="0"/>
              <a:t>Trust Built By Process Management</a:t>
            </a:r>
            <a:endParaRPr lang="en-US" dirty="0"/>
          </a:p>
        </p:txBody>
      </p:sp>
      <p:sp>
        <p:nvSpPr>
          <p:cNvPr id="4" name="Slide Number Placeholder 3">
            <a:extLst>
              <a:ext uri="{FF2B5EF4-FFF2-40B4-BE49-F238E27FC236}">
                <a16:creationId xmlns:a16="http://schemas.microsoft.com/office/drawing/2014/main" id="{B5F23CD1-3E43-9BD1-B974-3D59CE73CBCB}"/>
              </a:ext>
            </a:extLst>
          </p:cNvPr>
          <p:cNvSpPr>
            <a:spLocks noGrp="1"/>
          </p:cNvSpPr>
          <p:nvPr>
            <p:ph type="sldNum" idx="12"/>
          </p:nvPr>
        </p:nvSpPr>
        <p:spPr/>
        <p:txBody>
          <a:bodyPr>
            <a:normAutofit/>
          </a:bodyPr>
          <a:lstStyle/>
          <a:p>
            <a:fld id="{00000000-1234-1234-1234-123412341234}" type="slidenum">
              <a:rPr lang="en" smtClean="0"/>
              <a:pPr/>
              <a:t>14</a:t>
            </a:fld>
            <a:endParaRPr lang="en" dirty="0"/>
          </a:p>
        </p:txBody>
      </p:sp>
      <p:sp>
        <p:nvSpPr>
          <p:cNvPr id="3" name="Text Placeholder 2">
            <a:extLst>
              <a:ext uri="{FF2B5EF4-FFF2-40B4-BE49-F238E27FC236}">
                <a16:creationId xmlns:a16="http://schemas.microsoft.com/office/drawing/2014/main" id="{C0F68301-38A1-12E0-A401-51A180E2FEC6}"/>
              </a:ext>
            </a:extLst>
          </p:cNvPr>
          <p:cNvSpPr>
            <a:spLocks noGrp="1"/>
          </p:cNvSpPr>
          <p:nvPr>
            <p:ph type="body" idx="1"/>
          </p:nvPr>
        </p:nvSpPr>
        <p:spPr>
          <a:prstGeom prst="rect">
            <a:avLst/>
          </a:prstGeom>
        </p:spPr>
        <p:txBody>
          <a:bodyPr/>
          <a:lstStyle/>
          <a:p>
            <a:pPr marL="114297" indent="0">
              <a:buNone/>
            </a:pPr>
            <a:r>
              <a:rPr lang="en-US" sz="2100" b="1" dirty="0">
                <a:solidFill>
                  <a:schemeClr val="tx1"/>
                </a:solidFill>
              </a:rPr>
              <a:t>OpenChain ISO/IEC 5230:2020</a:t>
            </a:r>
            <a:r>
              <a:rPr lang="en-US" sz="2100" dirty="0">
                <a:solidFill>
                  <a:schemeClr val="tx1"/>
                </a:solidFill>
              </a:rPr>
              <a:t> </a:t>
            </a:r>
            <a:br>
              <a:rPr lang="en-US" sz="2100" dirty="0"/>
            </a:br>
            <a:r>
              <a:rPr lang="en-US" dirty="0"/>
              <a:t>International Standard for open source license compliance. </a:t>
            </a:r>
          </a:p>
          <a:p>
            <a:pPr marL="114297" indent="0">
              <a:buNone/>
            </a:pPr>
            <a:endParaRPr lang="en-US" dirty="0"/>
          </a:p>
          <a:p>
            <a:pPr marL="114297" indent="0">
              <a:buNone/>
            </a:pPr>
            <a:r>
              <a:rPr lang="en-US" sz="2100" b="1" dirty="0">
                <a:solidFill>
                  <a:schemeClr val="tx1"/>
                </a:solidFill>
              </a:rPr>
              <a:t>OpenChain ISO/IEC 18974:2023</a:t>
            </a:r>
            <a:br>
              <a:rPr lang="en-US" b="1" dirty="0">
                <a:solidFill>
                  <a:schemeClr val="accent6">
                    <a:lumMod val="50000"/>
                  </a:schemeClr>
                </a:solidFill>
              </a:rPr>
            </a:br>
            <a:r>
              <a:rPr lang="en-US" dirty="0"/>
              <a:t>International Standard for open source security assurance. </a:t>
            </a:r>
          </a:p>
          <a:p>
            <a:pPr marL="114297" indent="0">
              <a:buNone/>
            </a:pPr>
            <a:endParaRPr lang="en-US" dirty="0"/>
          </a:p>
          <a:p>
            <a:pPr marL="114297" indent="0" algn="ctr">
              <a:buNone/>
            </a:pPr>
            <a:r>
              <a:rPr lang="en-US" sz="1500" dirty="0"/>
              <a:t>High level process standards</a:t>
            </a:r>
          </a:p>
          <a:p>
            <a:pPr marL="114297" indent="0" algn="ctr">
              <a:buNone/>
            </a:pPr>
            <a:r>
              <a:rPr lang="en-US" sz="1500" dirty="0"/>
              <a:t>Simple, effective and suitable for companies of all sizes in all markets</a:t>
            </a:r>
          </a:p>
          <a:p>
            <a:pPr marL="114297" indent="0" algn="ctr">
              <a:buNone/>
            </a:pPr>
            <a:r>
              <a:rPr lang="en-US" sz="1500" dirty="0"/>
              <a:t>Openly developed by a vibrant user community and freely available to all</a:t>
            </a:r>
          </a:p>
        </p:txBody>
      </p:sp>
    </p:spTree>
    <p:extLst>
      <p:ext uri="{BB962C8B-B14F-4D97-AF65-F5344CB8AC3E}">
        <p14:creationId xmlns:p14="http://schemas.microsoft.com/office/powerpoint/2010/main" val="2996847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We Have Free Reference Material</a:t>
            </a:r>
            <a:endParaRPr dirty="0"/>
          </a:p>
        </p:txBody>
      </p:sp>
      <p:sp>
        <p:nvSpPr>
          <p:cNvPr id="158" name="Google Shape;158;p25"/>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lnSpcReduction="10000"/>
          </a:bodyPr>
          <a:lstStyle/>
          <a:p>
            <a:pPr marL="285750" indent="-285750">
              <a:spcAft>
                <a:spcPts val="1200"/>
              </a:spcAft>
            </a:pPr>
            <a:r>
              <a:rPr lang="en-US" dirty="0"/>
              <a:t>Reference training material</a:t>
            </a:r>
          </a:p>
          <a:p>
            <a:pPr marL="285750" indent="-285750">
              <a:spcAft>
                <a:spcPts val="1200"/>
              </a:spcAft>
            </a:pPr>
            <a:r>
              <a:rPr lang="en-US" dirty="0"/>
              <a:t>Policy template material</a:t>
            </a:r>
          </a:p>
          <a:p>
            <a:pPr marL="285750" indent="-285750">
              <a:spcAft>
                <a:spcPts val="1200"/>
              </a:spcAft>
            </a:pPr>
            <a:r>
              <a:rPr lang="en-US" dirty="0"/>
              <a:t>Capability modeling</a:t>
            </a:r>
          </a:p>
          <a:p>
            <a:pPr marL="285750" indent="-285750">
              <a:spcAft>
                <a:spcPts val="1200"/>
              </a:spcAft>
            </a:pPr>
            <a:r>
              <a:rPr lang="en-US" dirty="0"/>
              <a:t>Supplier education material</a:t>
            </a:r>
          </a:p>
          <a:p>
            <a:pPr marL="285750" indent="-285750">
              <a:spcAft>
                <a:spcPts val="1200"/>
              </a:spcAft>
            </a:pPr>
            <a:r>
              <a:rPr lang="en-US" dirty="0"/>
              <a:t>Self-certification checklists</a:t>
            </a:r>
          </a:p>
          <a:p>
            <a:pPr marL="285750" indent="-285750">
              <a:spcAft>
                <a:spcPts val="1200"/>
              </a:spcAft>
            </a:pPr>
            <a:r>
              <a:rPr lang="en-US" dirty="0"/>
              <a:t>Over 100 webinars</a:t>
            </a:r>
          </a:p>
          <a:p>
            <a:pPr marL="285750" indent="-285750">
              <a:spcAft>
                <a:spcPts val="1200"/>
              </a:spcAft>
            </a:pPr>
            <a:r>
              <a:rPr lang="en-US" dirty="0"/>
              <a:t>Over 1,000 other documents in multiple languages</a:t>
            </a:r>
            <a:endParaRPr dirty="0"/>
          </a:p>
        </p:txBody>
      </p:sp>
      <p:pic>
        <p:nvPicPr>
          <p:cNvPr id="5" name="Picture 4">
            <a:extLst>
              <a:ext uri="{FF2B5EF4-FFF2-40B4-BE49-F238E27FC236}">
                <a16:creationId xmlns:a16="http://schemas.microsoft.com/office/drawing/2014/main" id="{444FAFA4-2E6A-F8A0-38DE-B7BE112B1343}"/>
              </a:ext>
            </a:extLst>
          </p:cNvPr>
          <p:cNvPicPr>
            <a:picLocks noChangeAspect="1"/>
          </p:cNvPicPr>
          <p:nvPr/>
        </p:nvPicPr>
        <p:blipFill>
          <a:blip r:embed="rId3"/>
          <a:srcRect/>
          <a:stretch/>
        </p:blipFill>
        <p:spPr>
          <a:xfrm>
            <a:off x="6609600" y="2609850"/>
            <a:ext cx="2534400" cy="2534400"/>
          </a:xfrm>
          <a:prstGeom prst="rect">
            <a:avLst/>
          </a:prstGeom>
        </p:spPr>
      </p:pic>
    </p:spTree>
    <p:extLst>
      <p:ext uri="{BB962C8B-B14F-4D97-AF65-F5344CB8AC3E}">
        <p14:creationId xmlns:p14="http://schemas.microsoft.com/office/powerpoint/2010/main" val="1326424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1C956-796B-078D-6702-D8A30ECCC8F0}"/>
              </a:ext>
            </a:extLst>
          </p:cNvPr>
          <p:cNvSpPr>
            <a:spLocks noGrp="1"/>
          </p:cNvSpPr>
          <p:nvPr>
            <p:ph type="title"/>
          </p:nvPr>
        </p:nvSpPr>
        <p:spPr>
          <a:xfrm>
            <a:off x="460950" y="913902"/>
            <a:ext cx="8222100" cy="2504662"/>
          </a:xfrm>
        </p:spPr>
        <p:txBody>
          <a:bodyPr>
            <a:noAutofit/>
          </a:bodyPr>
          <a:lstStyle/>
          <a:p>
            <a:r>
              <a:rPr lang="en-US" sz="2000" b="1" dirty="0">
                <a:solidFill>
                  <a:schemeClr val="bg2"/>
                </a:solidFill>
                <a:latin typeface="Open Sans" panose="020B0606030504020204" pitchFamily="34" charset="0"/>
                <a:ea typeface="Open Sans" panose="020B0606030504020204" pitchFamily="34" charset="0"/>
                <a:cs typeface="Open Sans" panose="020B0606030504020204" pitchFamily="34" charset="0"/>
              </a:rPr>
              <a:t>Our standards </a:t>
            </a:r>
            <a: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t>are the </a:t>
            </a:r>
            <a:r>
              <a:rPr lang="en-US" sz="2000" i="1" dirty="0">
                <a:solidFill>
                  <a:schemeClr val="bg2"/>
                </a:solidFill>
                <a:latin typeface="Open Sans" panose="020B0606030504020204" pitchFamily="34" charset="0"/>
                <a:ea typeface="Open Sans" panose="020B0606030504020204" pitchFamily="34" charset="0"/>
                <a:cs typeface="Open Sans" panose="020B0606030504020204" pitchFamily="34" charset="0"/>
              </a:rPr>
              <a:t>international baseline </a:t>
            </a:r>
            <a: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t>for quality in open source license compliance and security assurance programs.</a:t>
            </a:r>
            <a:b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br>
            <a:b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br>
            <a:r>
              <a:rPr lang="en-US" sz="2000" b="1" dirty="0">
                <a:solidFill>
                  <a:schemeClr val="bg2"/>
                </a:solidFill>
                <a:latin typeface="Open Sans" panose="020B0606030504020204" pitchFamily="34" charset="0"/>
                <a:ea typeface="Open Sans" panose="020B0606030504020204" pitchFamily="34" charset="0"/>
                <a:cs typeface="Open Sans" panose="020B0606030504020204" pitchFamily="34" charset="0"/>
              </a:rPr>
              <a:t>Our guides and reference material </a:t>
            </a:r>
            <a: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t>helps people solve compliance challenges.</a:t>
            </a:r>
            <a:b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br>
            <a:b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br>
            <a:r>
              <a:rPr lang="en-US" sz="2000" b="1" dirty="0">
                <a:solidFill>
                  <a:schemeClr val="bg2"/>
                </a:solidFill>
                <a:latin typeface="Open Sans" panose="020B0606030504020204" pitchFamily="34" charset="0"/>
                <a:ea typeface="Open Sans" panose="020B0606030504020204" pitchFamily="34" charset="0"/>
                <a:cs typeface="Open Sans" panose="020B0606030504020204" pitchFamily="34" charset="0"/>
              </a:rPr>
              <a:t>Our community </a:t>
            </a:r>
            <a:r>
              <a:rPr lang="en-US" sz="2000" dirty="0">
                <a:solidFill>
                  <a:schemeClr val="bg2"/>
                </a:solidFill>
                <a:latin typeface="Open Sans" panose="020B0606030504020204" pitchFamily="34" charset="0"/>
                <a:ea typeface="Open Sans" panose="020B0606030504020204" pitchFamily="34" charset="0"/>
                <a:cs typeface="Open Sans" panose="020B0606030504020204" pitchFamily="34" charset="0"/>
              </a:rPr>
              <a:t>provides a space to share knowledge.</a:t>
            </a:r>
          </a:p>
        </p:txBody>
      </p:sp>
    </p:spTree>
    <p:extLst>
      <p:ext uri="{BB962C8B-B14F-4D97-AF65-F5344CB8AC3E}">
        <p14:creationId xmlns:p14="http://schemas.microsoft.com/office/powerpoint/2010/main" val="4131565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normAutofit fontScale="90000"/>
          </a:bodyPr>
          <a:lstStyle/>
          <a:p>
            <a:r>
              <a:rPr lang="en-US" dirty="0"/>
              <a:t>Evolution in Practice</a:t>
            </a:r>
            <a:br>
              <a:rPr lang="en-US" dirty="0"/>
            </a:br>
            <a:br>
              <a:rPr lang="en-US" dirty="0"/>
            </a:br>
            <a:r>
              <a:rPr lang="en-US" dirty="0"/>
              <a:t>Recent updates</a:t>
            </a:r>
          </a:p>
        </p:txBody>
      </p:sp>
    </p:spTree>
    <p:extLst>
      <p:ext uri="{BB962C8B-B14F-4D97-AF65-F5344CB8AC3E}">
        <p14:creationId xmlns:p14="http://schemas.microsoft.com/office/powerpoint/2010/main" val="1371698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web page&#10;&#10;AI-generated content may be incorrect.">
            <a:extLst>
              <a:ext uri="{FF2B5EF4-FFF2-40B4-BE49-F238E27FC236}">
                <a16:creationId xmlns:a16="http://schemas.microsoft.com/office/drawing/2014/main" id="{493D0E59-63EB-3898-B71E-85C446D9A5F9}"/>
              </a:ext>
            </a:extLst>
          </p:cNvPr>
          <p:cNvPicPr>
            <a:picLocks noChangeAspect="1"/>
          </p:cNvPicPr>
          <p:nvPr/>
        </p:nvPicPr>
        <p:blipFill>
          <a:blip r:embed="rId3"/>
          <a:stretch>
            <a:fillRect/>
          </a:stretch>
        </p:blipFill>
        <p:spPr>
          <a:xfrm>
            <a:off x="275350" y="118602"/>
            <a:ext cx="7089826" cy="4289206"/>
          </a:xfrm>
          <a:prstGeom prst="rect">
            <a:avLst/>
          </a:prstGeom>
        </p:spPr>
      </p:pic>
      <p:pic>
        <p:nvPicPr>
          <p:cNvPr id="7" name="Picture 6" descr="A qr code with black squares&#10;&#10;AI-generated content may be incorrect.">
            <a:extLst>
              <a:ext uri="{FF2B5EF4-FFF2-40B4-BE49-F238E27FC236}">
                <a16:creationId xmlns:a16="http://schemas.microsoft.com/office/drawing/2014/main" id="{3E1961C8-28E2-7CE0-91E5-289C6E43D1F4}"/>
              </a:ext>
            </a:extLst>
          </p:cNvPr>
          <p:cNvPicPr>
            <a:picLocks noChangeAspect="1"/>
          </p:cNvPicPr>
          <p:nvPr/>
        </p:nvPicPr>
        <p:blipFill>
          <a:blip r:embed="rId4"/>
          <a:stretch>
            <a:fillRect/>
          </a:stretch>
        </p:blipFill>
        <p:spPr>
          <a:xfrm>
            <a:off x="5623312" y="984250"/>
            <a:ext cx="3175000" cy="3175000"/>
          </a:xfrm>
          <a:prstGeom prst="rect">
            <a:avLst/>
          </a:prstGeom>
        </p:spPr>
      </p:pic>
      <p:sp>
        <p:nvSpPr>
          <p:cNvPr id="3" name="TextBox 2">
            <a:extLst>
              <a:ext uri="{FF2B5EF4-FFF2-40B4-BE49-F238E27FC236}">
                <a16:creationId xmlns:a16="http://schemas.microsoft.com/office/drawing/2014/main" id="{3A33578E-DA11-EE5A-7511-CAB47FFBB786}"/>
              </a:ext>
            </a:extLst>
          </p:cNvPr>
          <p:cNvSpPr txBox="1"/>
          <p:nvPr/>
        </p:nvSpPr>
        <p:spPr>
          <a:xfrm>
            <a:off x="3960940" y="427915"/>
            <a:ext cx="4582048" cy="307777"/>
          </a:xfrm>
          <a:prstGeom prst="rect">
            <a:avLst/>
          </a:prstGeom>
          <a:noFill/>
        </p:spPr>
        <p:txBody>
          <a:bodyPr wrap="square">
            <a:spAutoFit/>
          </a:bodyPr>
          <a:lstStyle/>
          <a:p>
            <a:pPr>
              <a:lnSpc>
                <a:spcPct val="100000"/>
              </a:lnSpc>
              <a:buNone/>
            </a:pPr>
            <a:r>
              <a:rPr lang="en-SG" sz="1400" b="1" dirty="0">
                <a:solidFill>
                  <a:srgbClr val="000000"/>
                </a:solidFill>
                <a:effectLst/>
                <a:latin typeface="Arial"/>
                <a:ea typeface="Sarasa Mono SC Nerd" panose="02000309000000000000" pitchFamily="49" charset="-122"/>
              </a:rPr>
              <a:t>October 2025 — AI SBOM Compliance Guide 1.0</a:t>
            </a:r>
            <a:endParaRPr lang="en-SG" sz="1400" b="0" dirty="0">
              <a:solidFill>
                <a:srgbClr val="000000"/>
              </a:solidFill>
              <a:effectLst/>
              <a:latin typeface="Arial"/>
              <a:ea typeface="Sarasa Mono SC Nerd" panose="02000309000000000000" pitchFamily="49" charset="-122"/>
            </a:endParaRPr>
          </a:p>
        </p:txBody>
      </p:sp>
    </p:spTree>
    <p:extLst>
      <p:ext uri="{BB962C8B-B14F-4D97-AF65-F5344CB8AC3E}">
        <p14:creationId xmlns:p14="http://schemas.microsoft.com/office/powerpoint/2010/main" val="47861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9300-B59C-0E45-CCF2-7FE3FDDCDD4D}"/>
              </a:ext>
            </a:extLst>
          </p:cNvPr>
          <p:cNvSpPr>
            <a:spLocks noGrp="1"/>
          </p:cNvSpPr>
          <p:nvPr>
            <p:ph type="title"/>
          </p:nvPr>
        </p:nvSpPr>
        <p:spPr/>
        <p:txBody>
          <a:bodyPr>
            <a:normAutofit fontScale="90000"/>
          </a:bodyPr>
          <a:lstStyle/>
          <a:p>
            <a:r>
              <a:rPr lang="en-US" dirty="0"/>
              <a:t>Addressing the CRA</a:t>
            </a:r>
            <a:r>
              <a:rPr lang="en-SG" i="1" dirty="0"/>
              <a:t> (Regulation (EU) 2024/2847) </a:t>
            </a:r>
            <a:endParaRPr lang="en-US" dirty="0"/>
          </a:p>
        </p:txBody>
      </p:sp>
      <p:sp>
        <p:nvSpPr>
          <p:cNvPr id="5" name="TextBox 4">
            <a:extLst>
              <a:ext uri="{FF2B5EF4-FFF2-40B4-BE49-F238E27FC236}">
                <a16:creationId xmlns:a16="http://schemas.microsoft.com/office/drawing/2014/main" id="{2926A7D0-510B-C16D-BAC0-EE4C8AEA1B5A}"/>
              </a:ext>
            </a:extLst>
          </p:cNvPr>
          <p:cNvSpPr txBox="1"/>
          <p:nvPr/>
        </p:nvSpPr>
        <p:spPr>
          <a:xfrm>
            <a:off x="175746" y="3723161"/>
            <a:ext cx="8792507" cy="307777"/>
          </a:xfrm>
          <a:prstGeom prst="rect">
            <a:avLst/>
          </a:prstGeom>
          <a:noFill/>
        </p:spPr>
        <p:txBody>
          <a:bodyPr wrap="square">
            <a:spAutoFit/>
          </a:bodyPr>
          <a:lstStyle/>
          <a:p>
            <a:r>
              <a:rPr lang="en-SG" b="1" dirty="0"/>
              <a:t>September 11, 2026, </a:t>
            </a:r>
            <a:r>
              <a:rPr lang="en-SG" b="1" dirty="0" err="1"/>
              <a:t>OpenChain</a:t>
            </a:r>
            <a:r>
              <a:rPr lang="en-SG" b="1" dirty="0"/>
              <a:t> released Cyber </a:t>
            </a:r>
            <a:r>
              <a:rPr lang="en-SG" sz="1400" b="1" i="0" u="none" strike="noStrike" dirty="0">
                <a:solidFill>
                  <a:srgbClr val="000000"/>
                </a:solidFill>
                <a:effectLst/>
                <a:latin typeface="Arial"/>
              </a:rPr>
              <a:t>Resilience Act (CRA) Requirements and Checklist</a:t>
            </a:r>
            <a:r>
              <a:rPr lang="en-SG" b="1" i="0" u="none" strike="noStrike" dirty="0">
                <a:solidFill>
                  <a:srgbClr val="000000"/>
                </a:solidFill>
                <a:effectLst/>
                <a:latin typeface="Arial"/>
              </a:rPr>
              <a:t> 1.0</a:t>
            </a:r>
            <a:endParaRPr lang="en-US" b="1" dirty="0"/>
          </a:p>
        </p:txBody>
      </p:sp>
      <p:sp>
        <p:nvSpPr>
          <p:cNvPr id="6" name="Google Shape;158;p25">
            <a:extLst>
              <a:ext uri="{FF2B5EF4-FFF2-40B4-BE49-F238E27FC236}">
                <a16:creationId xmlns:a16="http://schemas.microsoft.com/office/drawing/2014/main" id="{F57434B5-4C8B-693E-6FCF-6E400935C35C}"/>
              </a:ext>
            </a:extLst>
          </p:cNvPr>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285750" indent="-285750">
              <a:spcAft>
                <a:spcPts val="1200"/>
              </a:spcAft>
            </a:pPr>
            <a:r>
              <a:rPr lang="en-US" sz="1600" dirty="0"/>
              <a:t>OpenChain ISO/IEC 5230 and ISO/IEC 18974 asked for record-keeping before Cyber Resiliency Act (CRA) made it into a requirement.</a:t>
            </a:r>
          </a:p>
          <a:p>
            <a:pPr marL="285750" indent="-285750">
              <a:spcAft>
                <a:spcPts val="1200"/>
              </a:spcAft>
            </a:pPr>
            <a:r>
              <a:rPr lang="en-US" sz="1600" dirty="0"/>
              <a:t>OpenChain ISO/IEC 5230 and ISO/IEC 18974 require companies to create and archive verification materials around open source license compliance and security assurance.</a:t>
            </a:r>
          </a:p>
          <a:p>
            <a:pPr marL="285750" indent="-285750">
              <a:spcAft>
                <a:spcPts val="1200"/>
              </a:spcAft>
            </a:pPr>
            <a:r>
              <a:rPr lang="en-SG" sz="1600" dirty="0"/>
              <a:t>The Cyber Resilience Act’s main obligations apply from 11 December 2027, with reporting obligations already applying as of 11 September 2026.</a:t>
            </a:r>
            <a:endParaRPr sz="1600" dirty="0"/>
          </a:p>
        </p:txBody>
      </p:sp>
      <p:sp>
        <p:nvSpPr>
          <p:cNvPr id="8" name="TextBox 7">
            <a:extLst>
              <a:ext uri="{FF2B5EF4-FFF2-40B4-BE49-F238E27FC236}">
                <a16:creationId xmlns:a16="http://schemas.microsoft.com/office/drawing/2014/main" id="{B12E3A66-7441-5FE8-2732-F8118B4FDBCA}"/>
              </a:ext>
            </a:extLst>
          </p:cNvPr>
          <p:cNvSpPr txBox="1"/>
          <p:nvPr/>
        </p:nvSpPr>
        <p:spPr>
          <a:xfrm>
            <a:off x="2491992" y="4164305"/>
            <a:ext cx="4582048" cy="307777"/>
          </a:xfrm>
          <a:prstGeom prst="rect">
            <a:avLst/>
          </a:prstGeom>
          <a:noFill/>
        </p:spPr>
        <p:txBody>
          <a:bodyPr wrap="square">
            <a:spAutoFit/>
          </a:bodyPr>
          <a:lstStyle/>
          <a:p>
            <a:r>
              <a:rPr lang="en-US" dirty="0"/>
              <a:t>https://</a:t>
            </a:r>
            <a:r>
              <a:rPr lang="en-US" dirty="0" err="1"/>
              <a:t>openchainproject.org</a:t>
            </a:r>
            <a:r>
              <a:rPr lang="en-US" dirty="0"/>
              <a:t>/</a:t>
            </a:r>
            <a:r>
              <a:rPr lang="en-US" dirty="0" err="1"/>
              <a:t>cracompliance</a:t>
            </a:r>
            <a:endParaRPr lang="en-US" dirty="0"/>
          </a:p>
        </p:txBody>
      </p:sp>
    </p:spTree>
    <p:extLst>
      <p:ext uri="{BB962C8B-B14F-4D97-AF65-F5344CB8AC3E}">
        <p14:creationId xmlns:p14="http://schemas.microsoft.com/office/powerpoint/2010/main" val="350205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B1F96-3015-7D25-6E95-5CC423420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BB7B2D-7AEB-4303-4250-54E85B7F0985}"/>
              </a:ext>
            </a:extLst>
          </p:cNvPr>
          <p:cNvSpPr>
            <a:spLocks noGrp="1"/>
          </p:cNvSpPr>
          <p:nvPr>
            <p:ph type="title"/>
          </p:nvPr>
        </p:nvSpPr>
        <p:spPr/>
        <p:txBody>
          <a:bodyPr>
            <a:normAutofit fontScale="90000"/>
          </a:bodyPr>
          <a:lstStyle/>
          <a:p>
            <a:r>
              <a:rPr lang="en-JP" dirty="0"/>
              <a:t>Cross-Industry SBOM Quality Guide Concept</a:t>
            </a:r>
          </a:p>
        </p:txBody>
      </p:sp>
      <p:pic>
        <p:nvPicPr>
          <p:cNvPr id="5" name="Picture 4">
            <a:extLst>
              <a:ext uri="{FF2B5EF4-FFF2-40B4-BE49-F238E27FC236}">
                <a16:creationId xmlns:a16="http://schemas.microsoft.com/office/drawing/2014/main" id="{676C3AFB-4DB3-9139-327B-A7790D86DD13}"/>
              </a:ext>
            </a:extLst>
          </p:cNvPr>
          <p:cNvPicPr>
            <a:picLocks noChangeAspect="1"/>
          </p:cNvPicPr>
          <p:nvPr/>
        </p:nvPicPr>
        <p:blipFill>
          <a:blip r:embed="rId3"/>
          <a:srcRect/>
          <a:stretch/>
        </p:blipFill>
        <p:spPr>
          <a:xfrm>
            <a:off x="6049247" y="1489214"/>
            <a:ext cx="2165071" cy="2165071"/>
          </a:xfrm>
          <a:prstGeom prst="rect">
            <a:avLst/>
          </a:prstGeom>
        </p:spPr>
      </p:pic>
      <p:sp>
        <p:nvSpPr>
          <p:cNvPr id="3" name="TextBox 2">
            <a:extLst>
              <a:ext uri="{FF2B5EF4-FFF2-40B4-BE49-F238E27FC236}">
                <a16:creationId xmlns:a16="http://schemas.microsoft.com/office/drawing/2014/main" id="{66B60043-FA66-E575-68CB-ABD2CA014F8C}"/>
              </a:ext>
            </a:extLst>
          </p:cNvPr>
          <p:cNvSpPr txBox="1"/>
          <p:nvPr/>
        </p:nvSpPr>
        <p:spPr>
          <a:xfrm>
            <a:off x="414306" y="1986973"/>
            <a:ext cx="5360895" cy="1169551"/>
          </a:xfrm>
          <a:prstGeom prst="rect">
            <a:avLst/>
          </a:prstGeom>
          <a:noFill/>
        </p:spPr>
        <p:txBody>
          <a:bodyPr wrap="square">
            <a:spAutoFit/>
          </a:bodyPr>
          <a:lstStyle/>
          <a:p>
            <a:r>
              <a:rPr lang="en-SG" dirty="0"/>
              <a:t>April 2025, The </a:t>
            </a:r>
            <a:r>
              <a:rPr lang="en-SG" dirty="0" err="1"/>
              <a:t>OpenChain</a:t>
            </a:r>
            <a:r>
              <a:rPr lang="en-SG" dirty="0"/>
              <a:t> Telco Work Group has released Version 1.1 of the Telco SBOM Guide</a:t>
            </a:r>
          </a:p>
          <a:p>
            <a:endParaRPr lang="en-SG" dirty="0"/>
          </a:p>
          <a:p>
            <a:r>
              <a:rPr lang="en-SG" dirty="0"/>
              <a:t>October 2026, The Linux Foundation released the </a:t>
            </a:r>
            <a:r>
              <a:rPr lang="en-SG" dirty="0" err="1"/>
              <a:t>OpenChain</a:t>
            </a:r>
            <a:r>
              <a:rPr lang="en-SG" dirty="0"/>
              <a:t> Automotive Software Bill of Materials (SBOM) Framework</a:t>
            </a:r>
          </a:p>
        </p:txBody>
      </p:sp>
    </p:spTree>
    <p:extLst>
      <p:ext uri="{BB962C8B-B14F-4D97-AF65-F5344CB8AC3E}">
        <p14:creationId xmlns:p14="http://schemas.microsoft.com/office/powerpoint/2010/main" val="110333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43292-762B-A1F4-95F6-4BDAC2D16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D72CD-E7A2-B6ED-D134-6B7170DB70AA}"/>
              </a:ext>
            </a:extLst>
          </p:cNvPr>
          <p:cNvSpPr>
            <a:spLocks noGrp="1"/>
          </p:cNvSpPr>
          <p:nvPr>
            <p:ph type="title"/>
          </p:nvPr>
        </p:nvSpPr>
        <p:spPr/>
        <p:txBody>
          <a:bodyPr>
            <a:normAutofit fontScale="90000"/>
          </a:bodyPr>
          <a:lstStyle/>
          <a:p>
            <a:r>
              <a:rPr lang="en-US" dirty="0" err="1"/>
              <a:t>OpenChain</a:t>
            </a:r>
            <a:r>
              <a:rPr lang="en-US" dirty="0"/>
              <a:t> Project 2.0 is coming!</a:t>
            </a:r>
            <a:endParaRPr lang="en-JP" dirty="0"/>
          </a:p>
        </p:txBody>
      </p:sp>
      <p:pic>
        <p:nvPicPr>
          <p:cNvPr id="6" name="Picture 5">
            <a:extLst>
              <a:ext uri="{FF2B5EF4-FFF2-40B4-BE49-F238E27FC236}">
                <a16:creationId xmlns:a16="http://schemas.microsoft.com/office/drawing/2014/main" id="{C86912B0-E68D-CAB9-33DF-8AA22A730A71}"/>
              </a:ext>
            </a:extLst>
          </p:cNvPr>
          <p:cNvPicPr>
            <a:picLocks noChangeAspect="1"/>
          </p:cNvPicPr>
          <p:nvPr/>
        </p:nvPicPr>
        <p:blipFill>
          <a:blip r:embed="rId3"/>
          <a:stretch>
            <a:fillRect/>
          </a:stretch>
        </p:blipFill>
        <p:spPr>
          <a:xfrm>
            <a:off x="4789245" y="917315"/>
            <a:ext cx="4127459" cy="3455377"/>
          </a:xfrm>
          <a:prstGeom prst="rect">
            <a:avLst/>
          </a:prstGeom>
        </p:spPr>
      </p:pic>
      <p:sp>
        <p:nvSpPr>
          <p:cNvPr id="8" name="TextBox 7">
            <a:extLst>
              <a:ext uri="{FF2B5EF4-FFF2-40B4-BE49-F238E27FC236}">
                <a16:creationId xmlns:a16="http://schemas.microsoft.com/office/drawing/2014/main" id="{FF4F6F31-F7F6-1BC4-EE2D-E0FF13F405B0}"/>
              </a:ext>
            </a:extLst>
          </p:cNvPr>
          <p:cNvSpPr txBox="1"/>
          <p:nvPr/>
        </p:nvSpPr>
        <p:spPr>
          <a:xfrm>
            <a:off x="120580" y="2003908"/>
            <a:ext cx="4668665" cy="1169551"/>
          </a:xfrm>
          <a:prstGeom prst="rect">
            <a:avLst/>
          </a:prstGeom>
          <a:noFill/>
        </p:spPr>
        <p:txBody>
          <a:bodyPr wrap="square">
            <a:spAutoFit/>
          </a:bodyPr>
          <a:lstStyle/>
          <a:p>
            <a:r>
              <a:rPr lang="en-SG" sz="1400" i="0" u="none" strike="noStrike" spc="12" dirty="0">
                <a:effectLst/>
                <a:latin typeface="Arial"/>
                <a:hlinkClick r:id="rId4"/>
              </a:rPr>
              <a:t>OpenChain 2.0: Open Source Compliance in the Age of Automotive SBOM, Generative AI, and the CRA</a:t>
            </a:r>
            <a:endParaRPr lang="en-SG" sz="1400" i="0" u="none" strike="noStrike" spc="12" dirty="0">
              <a:effectLst/>
              <a:latin typeface="Arial"/>
            </a:endParaRPr>
          </a:p>
          <a:p>
            <a:endParaRPr lang="en-SG" spc="12" dirty="0"/>
          </a:p>
          <a:p>
            <a:r>
              <a:rPr lang="en-SG" spc="12" dirty="0"/>
              <a:t>Open Source Summit Europe</a:t>
            </a:r>
            <a:br>
              <a:rPr lang="en-SG" spc="12" dirty="0"/>
            </a:br>
            <a:r>
              <a:rPr lang="en-SG" dirty="0"/>
              <a:t>7-9 October, 2026</a:t>
            </a:r>
            <a:r>
              <a:rPr lang="en-US" dirty="0"/>
              <a:t>,</a:t>
            </a:r>
            <a:r>
              <a:rPr lang="en-SG" dirty="0"/>
              <a:t> Prague, Czechia</a:t>
            </a:r>
            <a:endParaRPr lang="en-US" dirty="0"/>
          </a:p>
        </p:txBody>
      </p:sp>
    </p:spTree>
    <p:extLst>
      <p:ext uri="{BB962C8B-B14F-4D97-AF65-F5344CB8AC3E}">
        <p14:creationId xmlns:p14="http://schemas.microsoft.com/office/powerpoint/2010/main" val="1711113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618B-AC99-412A-AC58-8925EE79438F}"/>
              </a:ext>
            </a:extLst>
          </p:cNvPr>
          <p:cNvSpPr>
            <a:spLocks noGrp="1"/>
          </p:cNvSpPr>
          <p:nvPr>
            <p:ph type="ctrTitle"/>
          </p:nvPr>
        </p:nvSpPr>
        <p:spPr/>
        <p:txBody>
          <a:bodyPr/>
          <a:lstStyle/>
          <a:p>
            <a:r>
              <a:rPr lang="en-US" dirty="0"/>
              <a:t>Support Network</a:t>
            </a:r>
          </a:p>
        </p:txBody>
      </p:sp>
    </p:spTree>
    <p:extLst>
      <p:ext uri="{BB962C8B-B14F-4D97-AF65-F5344CB8AC3E}">
        <p14:creationId xmlns:p14="http://schemas.microsoft.com/office/powerpoint/2010/main" val="3200833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g2e62ad20c76_0_18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Our Community Work Groups</a:t>
            </a:r>
            <a:endParaRPr dirty="0"/>
          </a:p>
        </p:txBody>
      </p:sp>
      <p:sp>
        <p:nvSpPr>
          <p:cNvPr id="391" name="Google Shape;391;g2e62ad20c76_0_182"/>
          <p:cNvSpPr txBox="1"/>
          <p:nvPr/>
        </p:nvSpPr>
        <p:spPr>
          <a:xfrm>
            <a:off x="4829014" y="1264744"/>
            <a:ext cx="2707500" cy="3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067"/>
              </a:spcBef>
              <a:spcAft>
                <a:spcPts val="0"/>
              </a:spcAft>
              <a:buNone/>
            </a:pPr>
            <a:r>
              <a:rPr lang="en-US" sz="1050" b="1" i="0" u="none" strike="noStrike" cap="none" dirty="0">
                <a:solidFill>
                  <a:schemeClr val="dk1"/>
                </a:solidFill>
                <a:latin typeface="Open Sans ExtraBold" pitchFamily="2" charset="0"/>
                <a:ea typeface="Open Sans ExtraBold" pitchFamily="2" charset="0"/>
                <a:cs typeface="Open Sans ExtraBold" pitchFamily="2" charset="0"/>
                <a:sym typeface="Open Sans"/>
              </a:rPr>
              <a:t>Regional User Groups</a:t>
            </a:r>
            <a:endParaRPr sz="1050" dirty="0">
              <a:solidFill>
                <a:schemeClr val="dk1"/>
              </a:solidFill>
              <a:latin typeface="Open Sans Light" pitchFamily="2" charset="0"/>
              <a:ea typeface="Open Sans Light" pitchFamily="2" charset="0"/>
              <a:cs typeface="Open Sans Light" pitchFamily="2" charset="0"/>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China (Sept 2019~)</a:t>
            </a:r>
            <a:endParaRPr sz="1050" dirty="0">
              <a:solidFill>
                <a:schemeClr val="dk1"/>
              </a:solidFill>
              <a:latin typeface="Open Sans Light" pitchFamily="2" charset="0"/>
              <a:ea typeface="Open Sans Light" pitchFamily="2" charset="0"/>
              <a:cs typeface="Open Sans Light" pitchFamily="2" charset="0"/>
              <a:sym typeface="Open Sans"/>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Germany (Jan 2020~)</a:t>
            </a:r>
            <a:endParaRPr sz="1050" dirty="0">
              <a:solidFill>
                <a:schemeClr val="dk1"/>
              </a:solidFill>
              <a:latin typeface="Open Sans Light" pitchFamily="2" charset="0"/>
              <a:ea typeface="Open Sans Light" pitchFamily="2" charset="0"/>
              <a:cs typeface="Open Sans Light" pitchFamily="2" charset="0"/>
              <a:sym typeface="Open Sans"/>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India (Sept 2019~)</a:t>
            </a:r>
            <a:endParaRPr sz="1050" dirty="0">
              <a:solidFill>
                <a:schemeClr val="dk1"/>
              </a:solidFill>
              <a:latin typeface="Open Sans Light" pitchFamily="2" charset="0"/>
              <a:ea typeface="Open Sans Light" pitchFamily="2" charset="0"/>
              <a:cs typeface="Open Sans Light" pitchFamily="2" charset="0"/>
              <a:sym typeface="Open Sans"/>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Japan (Dec 2017~)</a:t>
            </a: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Korea (Jan 2019~)</a:t>
            </a:r>
          </a:p>
          <a:p>
            <a:pPr>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Meridian 22 (Sept 2025~)</a:t>
            </a:r>
            <a:endParaRPr sz="1050" dirty="0">
              <a:solidFill>
                <a:schemeClr val="dk1"/>
              </a:solidFill>
              <a:latin typeface="Open Sans Light" pitchFamily="2" charset="0"/>
              <a:ea typeface="Open Sans Light" pitchFamily="2" charset="0"/>
              <a:cs typeface="Open Sans Light" pitchFamily="2" charset="0"/>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Taiwan (Sept 2019~)</a:t>
            </a:r>
            <a:endParaRPr sz="1050" dirty="0">
              <a:solidFill>
                <a:schemeClr val="dk1"/>
              </a:solidFill>
              <a:latin typeface="Open Sans Light" pitchFamily="2" charset="0"/>
              <a:ea typeface="Open Sans Light" pitchFamily="2" charset="0"/>
              <a:cs typeface="Open Sans Light" pitchFamily="2" charset="0"/>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UK (June 2020~)</a:t>
            </a:r>
          </a:p>
          <a:p>
            <a:pPr>
              <a:spcBef>
                <a:spcPts val="1067"/>
              </a:spcBef>
            </a:pPr>
            <a:r>
              <a:rPr lang="en-US" sz="1050" dirty="0">
                <a:solidFill>
                  <a:schemeClr val="dk1"/>
                </a:solidFill>
                <a:latin typeface="Open Sans Light" pitchFamily="2" charset="0"/>
                <a:ea typeface="Open Sans Light" pitchFamily="2" charset="0"/>
                <a:cs typeface="Open Sans Light" pitchFamily="2" charset="0"/>
              </a:rPr>
              <a:t>Southeast Asia(Sep 2026~)</a:t>
            </a:r>
            <a:endParaRPr sz="1050" dirty="0">
              <a:solidFill>
                <a:schemeClr val="dk1"/>
              </a:solidFill>
              <a:latin typeface="Open Sans Light" pitchFamily="2" charset="0"/>
              <a:ea typeface="Open Sans Light" pitchFamily="2" charset="0"/>
              <a:cs typeface="Open Sans Light" pitchFamily="2" charset="0"/>
              <a:sym typeface="Open Sans"/>
            </a:endParaRPr>
          </a:p>
        </p:txBody>
      </p:sp>
      <p:sp>
        <p:nvSpPr>
          <p:cNvPr id="392" name="Google Shape;392;g2e62ad20c76_0_182"/>
          <p:cNvSpPr txBox="1"/>
          <p:nvPr/>
        </p:nvSpPr>
        <p:spPr>
          <a:xfrm>
            <a:off x="2219925" y="1272452"/>
            <a:ext cx="2352075" cy="340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067"/>
              </a:spcBef>
              <a:spcAft>
                <a:spcPts val="0"/>
              </a:spcAft>
              <a:buNone/>
            </a:pPr>
            <a:r>
              <a:rPr lang="en-US" sz="1050" b="1" dirty="0">
                <a:solidFill>
                  <a:schemeClr val="dk1"/>
                </a:solidFill>
                <a:latin typeface="Open Sans ExtraBold" pitchFamily="2" charset="0"/>
                <a:ea typeface="Open Sans ExtraBold" pitchFamily="2" charset="0"/>
                <a:cs typeface="Open Sans ExtraBold" pitchFamily="2" charset="0"/>
                <a:sym typeface="Open Sans"/>
              </a:rPr>
              <a:t>Core </a:t>
            </a:r>
            <a:r>
              <a:rPr lang="en-US" sz="1050" b="1" i="0" u="none" strike="noStrike" cap="none" dirty="0">
                <a:solidFill>
                  <a:schemeClr val="dk1"/>
                </a:solidFill>
                <a:latin typeface="Open Sans ExtraBold" pitchFamily="2" charset="0"/>
                <a:ea typeface="Open Sans ExtraBold" pitchFamily="2" charset="0"/>
                <a:cs typeface="Open Sans ExtraBold" pitchFamily="2" charset="0"/>
                <a:sym typeface="Open Sans"/>
              </a:rPr>
              <a:t>Work Groups</a:t>
            </a:r>
            <a:endParaRPr sz="1050" dirty="0">
              <a:solidFill>
                <a:schemeClr val="dk1"/>
              </a:solidFill>
              <a:latin typeface="Open Sans Light" pitchFamily="2" charset="0"/>
              <a:ea typeface="Open Sans Light" pitchFamily="2" charset="0"/>
              <a:cs typeface="Open Sans Light" pitchFamily="2" charset="0"/>
              <a:sym typeface="Open Sans"/>
            </a:endParaRP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Education (Autumn 2020~)</a:t>
            </a:r>
            <a:endParaRPr sz="1050" dirty="0">
              <a:solidFill>
                <a:schemeClr val="dk1"/>
              </a:solidFill>
              <a:latin typeface="Open Sans Light" pitchFamily="2" charset="0"/>
              <a:ea typeface="Open Sans Light" pitchFamily="2" charset="0"/>
              <a:cs typeface="Open Sans Light" pitchFamily="2" charset="0"/>
              <a:sym typeface="Open Sans"/>
            </a:endParaRPr>
          </a:p>
          <a:p>
            <a:pPr marL="0" marR="0" lvl="0" indent="0" algn="l" rtl="0">
              <a:lnSpc>
                <a:spcPct val="100000"/>
              </a:lnSpc>
              <a:spcBef>
                <a:spcPts val="1067"/>
              </a:spcBef>
              <a:spcAft>
                <a:spcPts val="0"/>
              </a:spcAft>
              <a:buNone/>
            </a:pPr>
            <a:r>
              <a:rPr lang="en-US" sz="1050" b="0" i="0" u="none" strike="noStrike" cap="none" dirty="0">
                <a:solidFill>
                  <a:schemeClr val="dk1"/>
                </a:solidFill>
                <a:latin typeface="Open Sans Light" pitchFamily="2" charset="0"/>
                <a:ea typeface="Open Sans Light" pitchFamily="2" charset="0"/>
                <a:cs typeface="Open Sans Light" pitchFamily="2" charset="0"/>
                <a:sym typeface="Open Sans"/>
              </a:rPr>
              <a:t>Specification (Spring 2016~)</a:t>
            </a:r>
            <a:endParaRPr sz="1050" dirty="0">
              <a:solidFill>
                <a:schemeClr val="dk1"/>
              </a:solidFill>
              <a:latin typeface="Open Sans Light" pitchFamily="2" charset="0"/>
              <a:ea typeface="Open Sans Light" pitchFamily="2" charset="0"/>
              <a:cs typeface="Open Sans Light" pitchFamily="2" charset="0"/>
              <a:sym typeface="Open Sans"/>
            </a:endParaRPr>
          </a:p>
          <a:p>
            <a:pPr marL="0" marR="0" lvl="0" indent="0" algn="l" rtl="0">
              <a:lnSpc>
                <a:spcPct val="100000"/>
              </a:lnSpc>
              <a:spcBef>
                <a:spcPts val="1067"/>
              </a:spcBef>
              <a:spcAft>
                <a:spcPts val="0"/>
              </a:spcAft>
              <a:buNone/>
            </a:pPr>
            <a:br>
              <a:rPr lang="en-US" sz="1050" b="1" i="0" u="none" strike="noStrike" cap="none" dirty="0">
                <a:solidFill>
                  <a:schemeClr val="dk1"/>
                </a:solidFill>
                <a:latin typeface="Open Sans ExtraBold" pitchFamily="2" charset="0"/>
                <a:ea typeface="Open Sans ExtraBold" pitchFamily="2" charset="0"/>
                <a:cs typeface="Open Sans ExtraBold" pitchFamily="2" charset="0"/>
                <a:sym typeface="Open Sans"/>
              </a:rPr>
            </a:br>
            <a:r>
              <a:rPr lang="en-US" sz="1050" b="1" i="0" u="none" strike="noStrike" cap="none" dirty="0">
                <a:solidFill>
                  <a:schemeClr val="dk1"/>
                </a:solidFill>
                <a:latin typeface="Open Sans ExtraBold" pitchFamily="2" charset="0"/>
                <a:ea typeface="Open Sans ExtraBold" pitchFamily="2" charset="0"/>
                <a:cs typeface="Open Sans ExtraBold" pitchFamily="2" charset="0"/>
                <a:sym typeface="Open Sans"/>
              </a:rPr>
              <a:t>Community Work Groups</a:t>
            </a:r>
            <a:endParaRPr sz="1050" b="0" i="0" u="none" strike="noStrike" cap="none" dirty="0">
              <a:solidFill>
                <a:schemeClr val="dk1"/>
              </a:solidFill>
              <a:latin typeface="Open Sans Light" pitchFamily="2" charset="0"/>
              <a:ea typeface="Open Sans Light" pitchFamily="2" charset="0"/>
              <a:cs typeface="Open Sans Light" pitchFamily="2" charset="0"/>
              <a:sym typeface="Open Sans"/>
            </a:endParaRPr>
          </a:p>
          <a:p>
            <a:pPr>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AI (January 2024~)</a:t>
            </a:r>
          </a:p>
          <a:p>
            <a:pPr marL="0" lvl="0" indent="0" algn="l" rtl="0">
              <a:spcBef>
                <a:spcPts val="1067"/>
              </a:spcBef>
              <a:spcAft>
                <a:spcPts val="0"/>
              </a:spcAft>
              <a:buNone/>
            </a:pPr>
            <a:r>
              <a:rPr lang="en-US" sz="1050" dirty="0">
                <a:solidFill>
                  <a:schemeClr val="dk1"/>
                </a:solidFill>
                <a:latin typeface="Open Sans Light" pitchFamily="2" charset="0"/>
                <a:ea typeface="Open Sans Light" pitchFamily="2" charset="0"/>
                <a:cs typeface="Open Sans Light" pitchFamily="2" charset="0"/>
                <a:sym typeface="Open Sans"/>
              </a:rPr>
              <a:t>Automation (Summer 2019~)</a:t>
            </a:r>
          </a:p>
          <a:p>
            <a:pPr>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SBOM (July 2024~)</a:t>
            </a:r>
          </a:p>
          <a:p>
            <a:pPr lvl="0">
              <a:spcBef>
                <a:spcPts val="1067"/>
              </a:spcBef>
            </a:pPr>
            <a:r>
              <a:rPr lang="en-US" sz="1050" b="1" dirty="0">
                <a:solidFill>
                  <a:schemeClr val="dk1"/>
                </a:solidFill>
                <a:latin typeface="Open Sans ExtraBold" pitchFamily="2" charset="0"/>
                <a:ea typeface="Open Sans ExtraBold" pitchFamily="2" charset="0"/>
                <a:cs typeface="Open Sans ExtraBold" pitchFamily="2" charset="0"/>
                <a:sym typeface="Open Sans"/>
              </a:rPr>
              <a:t>Industry-Specific Work Groups</a:t>
            </a:r>
            <a:endParaRPr lang="en-US" sz="1050" dirty="0">
              <a:solidFill>
                <a:schemeClr val="dk1"/>
              </a:solidFill>
              <a:latin typeface="Open Sans Light" pitchFamily="2" charset="0"/>
              <a:ea typeface="Open Sans Light" pitchFamily="2" charset="0"/>
              <a:cs typeface="Open Sans Light" pitchFamily="2" charset="0"/>
            </a:endParaRPr>
          </a:p>
          <a:p>
            <a:pPr lvl="0">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Automotive (Summer 2019~)</a:t>
            </a:r>
            <a:endParaRPr lang="en-US" sz="1050" dirty="0">
              <a:solidFill>
                <a:schemeClr val="dk1"/>
              </a:solidFill>
              <a:latin typeface="Open Sans Light" pitchFamily="2" charset="0"/>
              <a:ea typeface="Open Sans Light" pitchFamily="2" charset="0"/>
              <a:cs typeface="Open Sans Light" pitchFamily="2" charset="0"/>
            </a:endParaRPr>
          </a:p>
          <a:p>
            <a:pPr lvl="0">
              <a:spcBef>
                <a:spcPts val="1067"/>
              </a:spcBef>
            </a:pPr>
            <a:r>
              <a:rPr lang="en-US" sz="1050" dirty="0">
                <a:solidFill>
                  <a:schemeClr val="dk1"/>
                </a:solidFill>
                <a:latin typeface="Open Sans Light" pitchFamily="2" charset="0"/>
                <a:ea typeface="Open Sans Light" pitchFamily="2" charset="0"/>
                <a:cs typeface="Open Sans Light" pitchFamily="2" charset="0"/>
                <a:sym typeface="Open Sans"/>
              </a:rPr>
              <a:t>Telco (Spring 2021~)</a:t>
            </a:r>
            <a:endParaRPr lang="en-US" sz="1050" b="1" dirty="0">
              <a:solidFill>
                <a:schemeClr val="dk1"/>
              </a:solidFill>
              <a:latin typeface="Open Sans ExtraBold" pitchFamily="2" charset="0"/>
              <a:ea typeface="Open Sans ExtraBold" pitchFamily="2" charset="0"/>
              <a:cs typeface="Open Sans ExtraBold" pitchFamily="2" charset="0"/>
              <a:sym typeface="Open Sans"/>
            </a:endParaRPr>
          </a:p>
          <a:p>
            <a:pPr>
              <a:spcBef>
                <a:spcPts val="1067"/>
              </a:spcBef>
            </a:pPr>
            <a:endParaRPr lang="en-US" sz="1050" dirty="0">
              <a:solidFill>
                <a:schemeClr val="dk1"/>
              </a:solidFill>
              <a:latin typeface="Open Sans Light" pitchFamily="2" charset="0"/>
              <a:ea typeface="Open Sans Light" pitchFamily="2" charset="0"/>
              <a:cs typeface="Open Sans Light" pitchFamily="2" charset="0"/>
              <a:sym typeface="Open Sans"/>
            </a:endParaRPr>
          </a:p>
        </p:txBody>
      </p:sp>
      <p:pic>
        <p:nvPicPr>
          <p:cNvPr id="393" name="Google Shape;393;g2e62ad20c76_0_182" descr="A qr code with black squares&#10;&#10;Description automatically generated"/>
          <p:cNvPicPr preferRelativeResize="0"/>
          <p:nvPr/>
        </p:nvPicPr>
        <p:blipFill rotWithShape="1">
          <a:blip r:embed="rId3">
            <a:alphaModFix/>
          </a:blip>
          <a:srcRect/>
          <a:stretch/>
        </p:blipFill>
        <p:spPr>
          <a:xfrm>
            <a:off x="7344000" y="3343500"/>
            <a:ext cx="1800000" cy="1800000"/>
          </a:xfrm>
          <a:prstGeom prst="rect">
            <a:avLst/>
          </a:prstGeom>
          <a:noFill/>
          <a:ln>
            <a:noFill/>
          </a:ln>
        </p:spPr>
      </p:pic>
    </p:spTree>
    <p:extLst>
      <p:ext uri="{BB962C8B-B14F-4D97-AF65-F5344CB8AC3E}">
        <p14:creationId xmlns:p14="http://schemas.microsoft.com/office/powerpoint/2010/main" val="465866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71CE0-CDA4-8C46-438D-0C2F15FB9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07BE9-07EB-A7F6-B67D-7602D88C203A}"/>
              </a:ext>
            </a:extLst>
          </p:cNvPr>
          <p:cNvSpPr>
            <a:spLocks noGrp="1"/>
          </p:cNvSpPr>
          <p:nvPr>
            <p:ph type="title"/>
          </p:nvPr>
        </p:nvSpPr>
        <p:spPr/>
        <p:txBody>
          <a:bodyPr>
            <a:normAutofit fontScale="90000"/>
          </a:bodyPr>
          <a:lstStyle/>
          <a:p>
            <a:r>
              <a:rPr lang="en-JP" dirty="0"/>
              <a:t>25 Global Ambassadors Supporting Our Work</a:t>
            </a:r>
          </a:p>
        </p:txBody>
      </p:sp>
      <p:pic>
        <p:nvPicPr>
          <p:cNvPr id="5" name="Picture 4" descr="A collage of images of people&#10;&#10;AI-generated content may be incorrect.">
            <a:extLst>
              <a:ext uri="{FF2B5EF4-FFF2-40B4-BE49-F238E27FC236}">
                <a16:creationId xmlns:a16="http://schemas.microsoft.com/office/drawing/2014/main" id="{C4669035-65C8-BFC3-0538-05EF9908BCC1}"/>
              </a:ext>
            </a:extLst>
          </p:cNvPr>
          <p:cNvPicPr>
            <a:picLocks noChangeAspect="1"/>
          </p:cNvPicPr>
          <p:nvPr/>
        </p:nvPicPr>
        <p:blipFill>
          <a:blip r:embed="rId3"/>
          <a:stretch>
            <a:fillRect/>
          </a:stretch>
        </p:blipFill>
        <p:spPr>
          <a:xfrm>
            <a:off x="1076092" y="1122300"/>
            <a:ext cx="6991815" cy="3171577"/>
          </a:xfrm>
          <a:prstGeom prst="rect">
            <a:avLst/>
          </a:prstGeom>
        </p:spPr>
      </p:pic>
      <p:pic>
        <p:nvPicPr>
          <p:cNvPr id="7" name="Picture 6" descr="A qr code with a few black squares&#10;&#10;AI-generated content may be incorrect.">
            <a:extLst>
              <a:ext uri="{FF2B5EF4-FFF2-40B4-BE49-F238E27FC236}">
                <a16:creationId xmlns:a16="http://schemas.microsoft.com/office/drawing/2014/main" id="{307B33CE-7150-18FB-4797-0929C7F78DB0}"/>
              </a:ext>
            </a:extLst>
          </p:cNvPr>
          <p:cNvPicPr>
            <a:picLocks noChangeAspect="1"/>
          </p:cNvPicPr>
          <p:nvPr/>
        </p:nvPicPr>
        <p:blipFill>
          <a:blip r:embed="rId4"/>
          <a:stretch>
            <a:fillRect/>
          </a:stretch>
        </p:blipFill>
        <p:spPr>
          <a:xfrm>
            <a:off x="7853091" y="3858322"/>
            <a:ext cx="1285178" cy="1285178"/>
          </a:xfrm>
          <a:prstGeom prst="rect">
            <a:avLst/>
          </a:prstGeom>
        </p:spPr>
      </p:pic>
    </p:spTree>
    <p:extLst>
      <p:ext uri="{BB962C8B-B14F-4D97-AF65-F5344CB8AC3E}">
        <p14:creationId xmlns:p14="http://schemas.microsoft.com/office/powerpoint/2010/main" val="861722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We Have Commercial Support</a:t>
            </a:r>
            <a:endParaRPr dirty="0"/>
          </a:p>
        </p:txBody>
      </p:sp>
      <p:pic>
        <p:nvPicPr>
          <p:cNvPr id="2" name="Picture 1" descr="A group of logos of different brands&#10;&#10;Description automatically generated">
            <a:extLst>
              <a:ext uri="{FF2B5EF4-FFF2-40B4-BE49-F238E27FC236}">
                <a16:creationId xmlns:a16="http://schemas.microsoft.com/office/drawing/2014/main" id="{418C4269-8FA2-6604-4772-0B268453543C}"/>
              </a:ext>
            </a:extLst>
          </p:cNvPr>
          <p:cNvPicPr>
            <a:picLocks noChangeAspect="1"/>
          </p:cNvPicPr>
          <p:nvPr/>
        </p:nvPicPr>
        <p:blipFill>
          <a:blip r:embed="rId3"/>
          <a:stretch>
            <a:fillRect/>
          </a:stretch>
        </p:blipFill>
        <p:spPr>
          <a:xfrm>
            <a:off x="793389" y="3276799"/>
            <a:ext cx="2593867" cy="1188223"/>
          </a:xfrm>
          <a:prstGeom prst="rect">
            <a:avLst/>
          </a:prstGeom>
        </p:spPr>
      </p:pic>
      <p:sp>
        <p:nvSpPr>
          <p:cNvPr id="3" name="TextBox 2">
            <a:extLst>
              <a:ext uri="{FF2B5EF4-FFF2-40B4-BE49-F238E27FC236}">
                <a16:creationId xmlns:a16="http://schemas.microsoft.com/office/drawing/2014/main" id="{E519F478-D371-9ADF-DD9F-D91125A1B60C}"/>
              </a:ext>
            </a:extLst>
          </p:cNvPr>
          <p:cNvSpPr txBox="1"/>
          <p:nvPr/>
        </p:nvSpPr>
        <p:spPr>
          <a:xfrm>
            <a:off x="1152404" y="2884272"/>
            <a:ext cx="1875835" cy="307777"/>
          </a:xfrm>
          <a:prstGeom prst="rect">
            <a:avLst/>
          </a:prstGeom>
          <a:noFill/>
        </p:spPr>
        <p:txBody>
          <a:bodyPr wrap="none" rtlCol="0">
            <a:spAutoFit/>
          </a:bodyPr>
          <a:lstStyle/>
          <a:p>
            <a:pPr algn="ctr"/>
            <a:r>
              <a:rPr lang="en-US" dirty="0"/>
              <a:t>Tooling / Automation </a:t>
            </a:r>
          </a:p>
        </p:txBody>
      </p:sp>
      <p:pic>
        <p:nvPicPr>
          <p:cNvPr id="4" name="Picture 3" descr="A group of logos with text&#10;&#10;Description automatically generated">
            <a:extLst>
              <a:ext uri="{FF2B5EF4-FFF2-40B4-BE49-F238E27FC236}">
                <a16:creationId xmlns:a16="http://schemas.microsoft.com/office/drawing/2014/main" id="{1D511FDA-E626-E2E5-CEEA-C3102B4333F7}"/>
              </a:ext>
            </a:extLst>
          </p:cNvPr>
          <p:cNvPicPr>
            <a:picLocks noChangeAspect="1"/>
          </p:cNvPicPr>
          <p:nvPr/>
        </p:nvPicPr>
        <p:blipFill>
          <a:blip r:embed="rId4"/>
          <a:stretch>
            <a:fillRect/>
          </a:stretch>
        </p:blipFill>
        <p:spPr>
          <a:xfrm>
            <a:off x="768095" y="1429878"/>
            <a:ext cx="2593867" cy="1369644"/>
          </a:xfrm>
          <a:prstGeom prst="rect">
            <a:avLst/>
          </a:prstGeom>
        </p:spPr>
      </p:pic>
      <p:sp>
        <p:nvSpPr>
          <p:cNvPr id="5" name="TextBox 4">
            <a:extLst>
              <a:ext uri="{FF2B5EF4-FFF2-40B4-BE49-F238E27FC236}">
                <a16:creationId xmlns:a16="http://schemas.microsoft.com/office/drawing/2014/main" id="{6D5A7FFC-BE8F-2A42-E2A7-BF35B519F602}"/>
              </a:ext>
            </a:extLst>
          </p:cNvPr>
          <p:cNvSpPr txBox="1"/>
          <p:nvPr/>
        </p:nvSpPr>
        <p:spPr>
          <a:xfrm>
            <a:off x="1057826" y="1117951"/>
            <a:ext cx="2064989" cy="307777"/>
          </a:xfrm>
          <a:prstGeom prst="rect">
            <a:avLst/>
          </a:prstGeom>
          <a:noFill/>
        </p:spPr>
        <p:txBody>
          <a:bodyPr wrap="none" rtlCol="0">
            <a:spAutoFit/>
          </a:bodyPr>
          <a:lstStyle/>
          <a:p>
            <a:pPr algn="ctr"/>
            <a:r>
              <a:rPr lang="en-US" dirty="0"/>
              <a:t>Third-Party Certification</a:t>
            </a:r>
          </a:p>
        </p:txBody>
      </p:sp>
      <p:pic>
        <p:nvPicPr>
          <p:cNvPr id="6" name="Picture 5" descr="A collection of logos&#10;&#10;Description automatically generated">
            <a:extLst>
              <a:ext uri="{FF2B5EF4-FFF2-40B4-BE49-F238E27FC236}">
                <a16:creationId xmlns:a16="http://schemas.microsoft.com/office/drawing/2014/main" id="{7DB7872B-0AAE-B64D-A44D-21E7CE86105F}"/>
              </a:ext>
            </a:extLst>
          </p:cNvPr>
          <p:cNvPicPr>
            <a:picLocks noChangeAspect="1"/>
          </p:cNvPicPr>
          <p:nvPr/>
        </p:nvPicPr>
        <p:blipFill>
          <a:blip r:embed="rId5"/>
          <a:stretch>
            <a:fillRect/>
          </a:stretch>
        </p:blipFill>
        <p:spPr>
          <a:xfrm>
            <a:off x="5838945" y="2711498"/>
            <a:ext cx="2585498" cy="2384682"/>
          </a:xfrm>
          <a:prstGeom prst="rect">
            <a:avLst/>
          </a:prstGeom>
        </p:spPr>
      </p:pic>
      <p:sp>
        <p:nvSpPr>
          <p:cNvPr id="7" name="TextBox 6">
            <a:extLst>
              <a:ext uri="{FF2B5EF4-FFF2-40B4-BE49-F238E27FC236}">
                <a16:creationId xmlns:a16="http://schemas.microsoft.com/office/drawing/2014/main" id="{C1C405F6-886A-AA37-0F94-57E121E923FA}"/>
              </a:ext>
            </a:extLst>
          </p:cNvPr>
          <p:cNvSpPr txBox="1"/>
          <p:nvPr/>
        </p:nvSpPr>
        <p:spPr>
          <a:xfrm>
            <a:off x="6476706" y="2355299"/>
            <a:ext cx="1309974" cy="307777"/>
          </a:xfrm>
          <a:prstGeom prst="rect">
            <a:avLst/>
          </a:prstGeom>
          <a:noFill/>
        </p:spPr>
        <p:txBody>
          <a:bodyPr wrap="none" rtlCol="0">
            <a:spAutoFit/>
          </a:bodyPr>
          <a:lstStyle/>
          <a:p>
            <a:pPr algn="ctr"/>
            <a:r>
              <a:rPr lang="en-US" dirty="0"/>
              <a:t>Consultancies</a:t>
            </a:r>
          </a:p>
        </p:txBody>
      </p:sp>
      <p:pic>
        <p:nvPicPr>
          <p:cNvPr id="8" name="Picture 7" descr="A group of logos of various brands&#10;&#10;Description automatically generated">
            <a:extLst>
              <a:ext uri="{FF2B5EF4-FFF2-40B4-BE49-F238E27FC236}">
                <a16:creationId xmlns:a16="http://schemas.microsoft.com/office/drawing/2014/main" id="{CB4B3E94-992E-1237-1319-45B8C19EB1C9}"/>
              </a:ext>
            </a:extLst>
          </p:cNvPr>
          <p:cNvPicPr>
            <a:picLocks noChangeAspect="1"/>
          </p:cNvPicPr>
          <p:nvPr/>
        </p:nvPicPr>
        <p:blipFill>
          <a:blip r:embed="rId6"/>
          <a:stretch>
            <a:fillRect/>
          </a:stretch>
        </p:blipFill>
        <p:spPr>
          <a:xfrm>
            <a:off x="5911055" y="307777"/>
            <a:ext cx="2439511" cy="1945299"/>
          </a:xfrm>
          <a:prstGeom prst="rect">
            <a:avLst/>
          </a:prstGeom>
        </p:spPr>
      </p:pic>
      <p:sp>
        <p:nvSpPr>
          <p:cNvPr id="9" name="TextBox 8">
            <a:extLst>
              <a:ext uri="{FF2B5EF4-FFF2-40B4-BE49-F238E27FC236}">
                <a16:creationId xmlns:a16="http://schemas.microsoft.com/office/drawing/2014/main" id="{964CA336-6551-5A1A-652E-B4D211443D5E}"/>
              </a:ext>
            </a:extLst>
          </p:cNvPr>
          <p:cNvSpPr txBox="1"/>
          <p:nvPr/>
        </p:nvSpPr>
        <p:spPr>
          <a:xfrm>
            <a:off x="6416511" y="0"/>
            <a:ext cx="1428596" cy="307777"/>
          </a:xfrm>
          <a:prstGeom prst="rect">
            <a:avLst/>
          </a:prstGeom>
          <a:noFill/>
        </p:spPr>
        <p:txBody>
          <a:bodyPr wrap="none" rtlCol="0">
            <a:spAutoFit/>
          </a:bodyPr>
          <a:lstStyle/>
          <a:p>
            <a:pPr algn="ctr"/>
            <a:r>
              <a:rPr lang="en-US" dirty="0"/>
              <a:t>Legal Providers</a:t>
            </a:r>
          </a:p>
        </p:txBody>
      </p:sp>
      <p:pic>
        <p:nvPicPr>
          <p:cNvPr id="11" name="Picture 10" descr="A qr code with a black and white background&#10;&#10;Description automatically generated">
            <a:extLst>
              <a:ext uri="{FF2B5EF4-FFF2-40B4-BE49-F238E27FC236}">
                <a16:creationId xmlns:a16="http://schemas.microsoft.com/office/drawing/2014/main" id="{7A712770-DA09-A93B-8D9C-400E0DC104E3}"/>
              </a:ext>
            </a:extLst>
          </p:cNvPr>
          <p:cNvPicPr>
            <a:picLocks noChangeAspect="1"/>
          </p:cNvPicPr>
          <p:nvPr/>
        </p:nvPicPr>
        <p:blipFill>
          <a:blip r:embed="rId7"/>
          <a:stretch>
            <a:fillRect/>
          </a:stretch>
        </p:blipFill>
        <p:spPr>
          <a:xfrm>
            <a:off x="3641825" y="1780516"/>
            <a:ext cx="1991655" cy="1991655"/>
          </a:xfrm>
          <a:prstGeom prst="rect">
            <a:avLst/>
          </a:prstGeom>
        </p:spPr>
      </p:pic>
      <p:pic>
        <p:nvPicPr>
          <p:cNvPr id="10" name="Picture 9">
            <a:extLst>
              <a:ext uri="{FF2B5EF4-FFF2-40B4-BE49-F238E27FC236}">
                <a16:creationId xmlns:a16="http://schemas.microsoft.com/office/drawing/2014/main" id="{FBB6BE1E-B188-B764-4367-F6F7560FA19D}"/>
              </a:ext>
            </a:extLst>
          </p:cNvPr>
          <p:cNvPicPr>
            <a:picLocks noChangeAspect="1"/>
          </p:cNvPicPr>
          <p:nvPr/>
        </p:nvPicPr>
        <p:blipFill>
          <a:blip r:embed="rId8"/>
          <a:stretch>
            <a:fillRect/>
          </a:stretch>
        </p:blipFill>
        <p:spPr>
          <a:xfrm>
            <a:off x="6818278" y="2940700"/>
            <a:ext cx="625061" cy="97460"/>
          </a:xfrm>
          <a:prstGeom prst="rect">
            <a:avLst/>
          </a:prstGeom>
        </p:spPr>
      </p:pic>
    </p:spTree>
    <p:extLst>
      <p:ext uri="{BB962C8B-B14F-4D97-AF65-F5344CB8AC3E}">
        <p14:creationId xmlns:p14="http://schemas.microsoft.com/office/powerpoint/2010/main" val="3189938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DE48-1988-951E-671B-71D8980845EF}"/>
              </a:ext>
            </a:extLst>
          </p:cNvPr>
          <p:cNvSpPr>
            <a:spLocks noGrp="1"/>
          </p:cNvSpPr>
          <p:nvPr>
            <p:ph type="title"/>
          </p:nvPr>
        </p:nvSpPr>
        <p:spPr/>
        <p:txBody>
          <a:bodyPr/>
          <a:lstStyle/>
          <a:p>
            <a:r>
              <a:rPr lang="en-JP" dirty="0"/>
              <a:t>You Are The Community</a:t>
            </a:r>
          </a:p>
        </p:txBody>
      </p:sp>
      <p:pic>
        <p:nvPicPr>
          <p:cNvPr id="5" name="Picture 4" descr="A group of people posing for a photo&#10;&#10;AI-generated content may be incorrect.">
            <a:extLst>
              <a:ext uri="{FF2B5EF4-FFF2-40B4-BE49-F238E27FC236}">
                <a16:creationId xmlns:a16="http://schemas.microsoft.com/office/drawing/2014/main" id="{EF3921F3-4527-2C20-FC4C-2FC06D8CE19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6" y="1278452"/>
            <a:ext cx="9143814" cy="2775074"/>
          </a:xfrm>
          <a:prstGeom prst="rect">
            <a:avLst/>
          </a:prstGeom>
        </p:spPr>
      </p:pic>
    </p:spTree>
    <p:extLst>
      <p:ext uri="{BB962C8B-B14F-4D97-AF65-F5344CB8AC3E}">
        <p14:creationId xmlns:p14="http://schemas.microsoft.com/office/powerpoint/2010/main" val="3520975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4E97E-C9F5-14D7-F3A3-AAFB3C657E4E}"/>
              </a:ext>
            </a:extLst>
          </p:cNvPr>
          <p:cNvSpPr>
            <a:spLocks noGrp="1"/>
          </p:cNvSpPr>
          <p:nvPr>
            <p:ph type="title"/>
          </p:nvPr>
        </p:nvSpPr>
        <p:spPr/>
        <p:txBody>
          <a:bodyPr>
            <a:normAutofit fontScale="90000"/>
          </a:bodyPr>
          <a:lstStyle/>
          <a:p>
            <a:r>
              <a:rPr lang="en-JP" dirty="0"/>
              <a:t>Everyone Is Always Welcome!</a:t>
            </a:r>
          </a:p>
        </p:txBody>
      </p:sp>
      <p:pic>
        <p:nvPicPr>
          <p:cNvPr id="7" name="Picture 6" descr="A group of people sitting at a table&#10;&#10;AI-generated content may be incorrect.">
            <a:extLst>
              <a:ext uri="{FF2B5EF4-FFF2-40B4-BE49-F238E27FC236}">
                <a16:creationId xmlns:a16="http://schemas.microsoft.com/office/drawing/2014/main" id="{4BC7FE57-3F4B-4FB1-DF7F-B54D0124BE34}"/>
              </a:ext>
            </a:extLst>
          </p:cNvPr>
          <p:cNvPicPr>
            <a:picLocks noChangeAspect="1"/>
          </p:cNvPicPr>
          <p:nvPr/>
        </p:nvPicPr>
        <p:blipFill>
          <a:blip r:embed="rId3"/>
          <a:stretch>
            <a:fillRect/>
          </a:stretch>
        </p:blipFill>
        <p:spPr>
          <a:xfrm>
            <a:off x="1255222" y="883253"/>
            <a:ext cx="7888778" cy="4260248"/>
          </a:xfrm>
          <a:prstGeom prst="rect">
            <a:avLst/>
          </a:prstGeom>
        </p:spPr>
      </p:pic>
      <p:sp>
        <p:nvSpPr>
          <p:cNvPr id="3" name="TextBox 2">
            <a:extLst>
              <a:ext uri="{FF2B5EF4-FFF2-40B4-BE49-F238E27FC236}">
                <a16:creationId xmlns:a16="http://schemas.microsoft.com/office/drawing/2014/main" id="{9FD9FECE-172C-0D97-B778-3C7A7C3EA2AA}"/>
              </a:ext>
            </a:extLst>
          </p:cNvPr>
          <p:cNvSpPr txBox="1"/>
          <p:nvPr/>
        </p:nvSpPr>
        <p:spPr>
          <a:xfrm>
            <a:off x="1479665" y="4636564"/>
            <a:ext cx="2659702" cy="276999"/>
          </a:xfrm>
          <a:prstGeom prst="rect">
            <a:avLst/>
          </a:prstGeom>
          <a:noFill/>
        </p:spPr>
        <p:txBody>
          <a:bodyPr wrap="none" rtlCol="0">
            <a:spAutoFit/>
          </a:bodyPr>
          <a:lstStyle/>
          <a:p>
            <a:r>
              <a:rPr lang="en-JP" sz="1200" dirty="0">
                <a:solidFill>
                  <a:srgbClr val="FF0000"/>
                </a:solidFill>
              </a:rPr>
              <a:t>New in Korea: </a:t>
            </a:r>
            <a:r>
              <a:rPr lang="en-US" sz="1200" dirty="0" err="1"/>
              <a:t>Makkoli</a:t>
            </a:r>
            <a:r>
              <a:rPr lang="en-US" sz="1200" dirty="0"/>
              <a:t> Study Group</a:t>
            </a:r>
            <a:r>
              <a:rPr lang="en-JP" sz="1200" dirty="0"/>
              <a:t> </a:t>
            </a:r>
          </a:p>
        </p:txBody>
      </p:sp>
    </p:spTree>
    <p:extLst>
      <p:ext uri="{BB962C8B-B14F-4D97-AF65-F5344CB8AC3E}">
        <p14:creationId xmlns:p14="http://schemas.microsoft.com/office/powerpoint/2010/main" val="60138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5C57C-8BA5-8538-62A6-479A97CAA9AC}"/>
              </a:ext>
            </a:extLst>
          </p:cNvPr>
          <p:cNvSpPr>
            <a:spLocks noGrp="1"/>
          </p:cNvSpPr>
          <p:nvPr>
            <p:ph type="title"/>
          </p:nvPr>
        </p:nvSpPr>
        <p:spPr/>
        <p:txBody>
          <a:bodyPr>
            <a:normAutofit fontScale="90000"/>
          </a:bodyPr>
          <a:lstStyle/>
          <a:p>
            <a:r>
              <a:rPr lang="en-US" dirty="0" err="1"/>
              <a:t>OpenChain</a:t>
            </a:r>
            <a:r>
              <a:rPr lang="en-US" dirty="0"/>
              <a:t> Southeast Asia Work Group</a:t>
            </a:r>
          </a:p>
        </p:txBody>
      </p:sp>
      <p:sp>
        <p:nvSpPr>
          <p:cNvPr id="3" name="Text Placeholder 2">
            <a:extLst>
              <a:ext uri="{FF2B5EF4-FFF2-40B4-BE49-F238E27FC236}">
                <a16:creationId xmlns:a16="http://schemas.microsoft.com/office/drawing/2014/main" id="{165C32BE-1E59-5F3E-A720-A7675E4AAB39}"/>
              </a:ext>
            </a:extLst>
          </p:cNvPr>
          <p:cNvSpPr>
            <a:spLocks noGrp="1"/>
          </p:cNvSpPr>
          <p:nvPr>
            <p:ph type="body" idx="1"/>
          </p:nvPr>
        </p:nvSpPr>
        <p:spPr>
          <a:xfrm>
            <a:off x="280350" y="1266450"/>
            <a:ext cx="8520600" cy="3467050"/>
          </a:xfrm>
        </p:spPr>
        <p:txBody>
          <a:bodyPr>
            <a:normAutofit/>
          </a:bodyPr>
          <a:lstStyle/>
          <a:p>
            <a:r>
              <a:rPr lang="en-SG" dirty="0"/>
              <a:t>Set up the work group, hold monthly calls and engage local partners</a:t>
            </a:r>
          </a:p>
          <a:p>
            <a:pPr lvl="1"/>
            <a:r>
              <a:rPr lang="en-SG" dirty="0"/>
              <a:t>Monthly online calls on the fourth Thursday, 20:00–21:00 Singapore Time</a:t>
            </a:r>
          </a:p>
          <a:p>
            <a:r>
              <a:rPr lang="en-SG" dirty="0"/>
              <a:t>Explore regional needs and share practical experience</a:t>
            </a:r>
          </a:p>
          <a:p>
            <a:pPr lvl="1"/>
            <a:r>
              <a:rPr lang="en-SG" dirty="0"/>
              <a:t>Share </a:t>
            </a:r>
            <a:r>
              <a:rPr lang="en-SG" dirty="0" err="1"/>
              <a:t>OpenChain</a:t>
            </a:r>
            <a:r>
              <a:rPr lang="en-SG" dirty="0"/>
              <a:t> in local events and connect interested organizations.</a:t>
            </a:r>
          </a:p>
          <a:p>
            <a:pPr lvl="1"/>
            <a:r>
              <a:rPr lang="en-SG" dirty="0"/>
              <a:t>Co-host local events to feature partners sharing their own practices and lessons learned.</a:t>
            </a:r>
          </a:p>
          <a:p>
            <a:r>
              <a:rPr lang="en-SG" dirty="0"/>
              <a:t>Connect the region with the global community and experts for collaboration</a:t>
            </a:r>
          </a:p>
          <a:p>
            <a:pPr lvl="1"/>
            <a:r>
              <a:rPr lang="en-SG" dirty="0"/>
              <a:t>Explore regional regulatory needs, compared with the </a:t>
            </a:r>
            <a:r>
              <a:rPr lang="en-SG" dirty="0" err="1"/>
              <a:t>OpenChain</a:t>
            </a:r>
            <a:r>
              <a:rPr lang="en-SG" dirty="0"/>
              <a:t> EU CRA Checklist</a:t>
            </a:r>
          </a:p>
          <a:p>
            <a:pPr lvl="1"/>
            <a:r>
              <a:rPr lang="en-SG" dirty="0"/>
              <a:t>Expand multilingual resources and support</a:t>
            </a:r>
          </a:p>
          <a:p>
            <a:endParaRPr lang="en-US" dirty="0"/>
          </a:p>
        </p:txBody>
      </p:sp>
    </p:spTree>
    <p:extLst>
      <p:ext uri="{BB962C8B-B14F-4D97-AF65-F5344CB8AC3E}">
        <p14:creationId xmlns:p14="http://schemas.microsoft.com/office/powerpoint/2010/main" val="4039046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473A3D-E30E-8C99-628F-81B56C8F17F8}"/>
              </a:ext>
            </a:extLst>
          </p:cNvPr>
          <p:cNvSpPr>
            <a:spLocks noGrp="1"/>
          </p:cNvSpPr>
          <p:nvPr>
            <p:ph type="title"/>
          </p:nvPr>
        </p:nvSpPr>
        <p:spPr/>
        <p:txBody>
          <a:bodyPr>
            <a:normAutofit fontScale="90000"/>
          </a:bodyPr>
          <a:lstStyle/>
          <a:p>
            <a:r>
              <a:rPr lang="en-US" dirty="0"/>
              <a:t>Follow and Participate</a:t>
            </a:r>
          </a:p>
        </p:txBody>
      </p:sp>
      <p:sp>
        <p:nvSpPr>
          <p:cNvPr id="10" name="Text Placeholder 4">
            <a:extLst>
              <a:ext uri="{FF2B5EF4-FFF2-40B4-BE49-F238E27FC236}">
                <a16:creationId xmlns:a16="http://schemas.microsoft.com/office/drawing/2014/main" id="{8DED3AC3-3375-E99A-5FFC-C0C37A5FAC1B}"/>
              </a:ext>
            </a:extLst>
          </p:cNvPr>
          <p:cNvSpPr>
            <a:spLocks noGrp="1"/>
          </p:cNvSpPr>
          <p:nvPr>
            <p:ph type="body" idx="1"/>
          </p:nvPr>
        </p:nvSpPr>
        <p:spPr>
          <a:xfrm>
            <a:off x="221264" y="1209878"/>
            <a:ext cx="6614101" cy="3339000"/>
          </a:xfrm>
        </p:spPr>
        <p:txBody>
          <a:bodyPr>
            <a:noAutofit/>
          </a:bodyPr>
          <a:lstStyle/>
          <a:p>
            <a:r>
              <a:rPr lang="en-US" dirty="0"/>
              <a:t>Our calls are open and publicly listed.</a:t>
            </a:r>
          </a:p>
          <a:p>
            <a:endParaRPr lang="en-US" dirty="0"/>
          </a:p>
          <a:p>
            <a:r>
              <a:rPr lang="en-US" dirty="0"/>
              <a:t>We publish a recording of every meeting not under Chatham House Rule.</a:t>
            </a:r>
          </a:p>
          <a:p>
            <a:endParaRPr lang="en-US" dirty="0"/>
          </a:p>
          <a:p>
            <a:r>
              <a:rPr lang="en-US" dirty="0"/>
              <a:t>We provide access to work groups, special interest groups and local work groups via mailing list.</a:t>
            </a:r>
          </a:p>
          <a:p>
            <a:pPr marL="139700" indent="0">
              <a:buNone/>
            </a:pPr>
            <a:endParaRPr lang="en-US" dirty="0"/>
          </a:p>
          <a:p>
            <a:r>
              <a:rPr lang="en-US" dirty="0"/>
              <a:t>Monthly online calls: </a:t>
            </a:r>
            <a:r>
              <a:rPr lang="en-US" dirty="0">
                <a:hlinkClick r:id="rId3"/>
              </a:rPr>
              <a:t>https://openchainproject.org/participate</a:t>
            </a:r>
            <a:endParaRPr lang="en-US" dirty="0"/>
          </a:p>
          <a:p>
            <a:r>
              <a:rPr lang="en-US" dirty="0"/>
              <a:t>Mailing List: </a:t>
            </a:r>
            <a:r>
              <a:rPr lang="en-US" dirty="0">
                <a:hlinkClick r:id="rId4"/>
              </a:rPr>
              <a:t>https://lists.openchainproject.org/g/southeastasia-wg</a:t>
            </a:r>
            <a:endParaRPr lang="en-US" dirty="0"/>
          </a:p>
          <a:p>
            <a:r>
              <a:rPr lang="en-US" dirty="0" err="1"/>
              <a:t>Github</a:t>
            </a:r>
            <a:r>
              <a:rPr lang="en-US" dirty="0"/>
              <a:t>: </a:t>
            </a:r>
            <a:r>
              <a:rPr lang="en-US" dirty="0">
                <a:hlinkClick r:id="rId5"/>
              </a:rPr>
              <a:t>https://github.com/OpenChain-Project/OpenChain-SouthEastAsia-WG</a:t>
            </a:r>
            <a:endParaRPr lang="en-US" dirty="0"/>
          </a:p>
          <a:p>
            <a:endParaRPr lang="en-US" dirty="0"/>
          </a:p>
        </p:txBody>
      </p:sp>
    </p:spTree>
    <p:extLst>
      <p:ext uri="{BB962C8B-B14F-4D97-AF65-F5344CB8AC3E}">
        <p14:creationId xmlns:p14="http://schemas.microsoft.com/office/powerpoint/2010/main" val="1516607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a:extLst>
              <a:ext uri="{FF2B5EF4-FFF2-40B4-BE49-F238E27FC236}">
                <a16:creationId xmlns:a16="http://schemas.microsoft.com/office/drawing/2014/main" id="{C8441C8D-9D98-A06E-6160-FBCB926F576B}"/>
              </a:ext>
            </a:extLst>
          </p:cNvPr>
          <p:cNvSpPr txBox="1">
            <a:spLocks/>
          </p:cNvSpPr>
          <p:nvPr/>
        </p:nvSpPr>
        <p:spPr>
          <a:xfrm>
            <a:off x="1572600" y="411333"/>
            <a:ext cx="5998800" cy="97768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2"/>
              </a:buClr>
              <a:buSzPts val="1800"/>
              <a:buFont typeface="Open Sans Medium"/>
              <a:buNone/>
              <a:defRPr sz="1800" b="0" i="0" u="none" strike="noStrike" cap="none">
                <a:solidFill>
                  <a:schemeClr val="dk2"/>
                </a:solidFill>
                <a:latin typeface="Open Sans Medium"/>
                <a:ea typeface="Open Sans Medium"/>
                <a:cs typeface="Open Sans Medium"/>
                <a:sym typeface="Open Sans Medium"/>
              </a:defRPr>
            </a:lvl1pPr>
            <a:lvl2pPr marL="914400" marR="0" lvl="1"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2pPr>
            <a:lvl3pPr marL="1371600" marR="0" lvl="2"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3pPr>
            <a:lvl4pPr marL="1828800" marR="0" lvl="3"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4pPr>
            <a:lvl5pPr marL="2286000" marR="0" lvl="4"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5pPr>
            <a:lvl6pPr marL="2743200" marR="0" lvl="5"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6pPr>
            <a:lvl7pPr marL="3200400" marR="0" lvl="6"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7pPr>
            <a:lvl8pPr marL="3657600" marR="0" lvl="7"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8pPr>
            <a:lvl9pPr marL="4114800" marR="0" lvl="8"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9pPr>
          </a:lstStyle>
          <a:p>
            <a:pPr algn="ctr"/>
            <a:r>
              <a:rPr lang="en-US" sz="2800" b="1" dirty="0"/>
              <a:t>Let’s Talk More</a:t>
            </a:r>
          </a:p>
        </p:txBody>
      </p:sp>
      <p:sp>
        <p:nvSpPr>
          <p:cNvPr id="3" name="Title 2">
            <a:extLst>
              <a:ext uri="{FF2B5EF4-FFF2-40B4-BE49-F238E27FC236}">
                <a16:creationId xmlns:a16="http://schemas.microsoft.com/office/drawing/2014/main" id="{BBD82E70-7128-2224-46AA-00AB309D02A3}"/>
              </a:ext>
            </a:extLst>
          </p:cNvPr>
          <p:cNvSpPr>
            <a:spLocks noGrp="1"/>
          </p:cNvSpPr>
          <p:nvPr>
            <p:ph type="title" idx="4294967295"/>
          </p:nvPr>
        </p:nvSpPr>
        <p:spPr/>
        <p:txBody>
          <a:bodyPr>
            <a:normAutofit fontScale="90000"/>
          </a:bodyPr>
          <a:lstStyle/>
          <a:p>
            <a:r>
              <a:rPr lang="en-US" dirty="0"/>
              <a:t>     </a:t>
            </a:r>
          </a:p>
        </p:txBody>
      </p:sp>
      <p:sp>
        <p:nvSpPr>
          <p:cNvPr id="6" name="Text Placeholder 5">
            <a:extLst>
              <a:ext uri="{FF2B5EF4-FFF2-40B4-BE49-F238E27FC236}">
                <a16:creationId xmlns:a16="http://schemas.microsoft.com/office/drawing/2014/main" id="{0CC156BA-28DB-B45A-4A59-924EB934E428}"/>
              </a:ext>
            </a:extLst>
          </p:cNvPr>
          <p:cNvSpPr>
            <a:spLocks noGrp="1"/>
          </p:cNvSpPr>
          <p:nvPr>
            <p:ph type="body" idx="1"/>
          </p:nvPr>
        </p:nvSpPr>
        <p:spPr/>
        <p:txBody>
          <a:bodyPr/>
          <a:lstStyle/>
          <a:p>
            <a:r>
              <a:rPr lang="en-US" dirty="0"/>
              <a:t>Thank you!</a:t>
            </a:r>
            <a:endParaRPr lang="en-JP" dirty="0"/>
          </a:p>
        </p:txBody>
      </p:sp>
    </p:spTree>
    <p:extLst>
      <p:ext uri="{BB962C8B-B14F-4D97-AF65-F5344CB8AC3E}">
        <p14:creationId xmlns:p14="http://schemas.microsoft.com/office/powerpoint/2010/main" val="3642839878"/>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33042</TotalTime>
  <Words>2436</Words>
  <Application>Microsoft Macintosh PowerPoint</Application>
  <PresentationFormat>On-screen Show (16:9)</PresentationFormat>
  <Paragraphs>226</Paragraphs>
  <Slides>30</Slides>
  <Notes>30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30</vt:i4>
      </vt:variant>
    </vt:vector>
  </HeadingPairs>
  <TitlesOfParts>
    <vt:vector size="44" baseType="lpstr">
      <vt:lpstr>Archivo</vt:lpstr>
      <vt:lpstr>Archivo ExtraLight</vt:lpstr>
      <vt:lpstr>Archivo Light</vt:lpstr>
      <vt:lpstr>Noto Sans Symbols</vt:lpstr>
      <vt:lpstr>Arial</vt:lpstr>
      <vt:lpstr>Chalkduster</vt:lpstr>
      <vt:lpstr>Courier New</vt:lpstr>
      <vt:lpstr>Open Sans</vt:lpstr>
      <vt:lpstr>Open Sans ExtraBold</vt:lpstr>
      <vt:lpstr>Open Sans Light</vt:lpstr>
      <vt:lpstr>Open Sans Medium</vt:lpstr>
      <vt:lpstr>Roboto</vt:lpstr>
      <vt:lpstr>Roboto Slab Light</vt:lpstr>
      <vt:lpstr>Linux Foundation EU Theme 2023</vt:lpstr>
      <vt:lpstr>OpenChain Monthly Meeting Southeast Asia Work Group</vt:lpstr>
      <vt:lpstr>Anti-Trust Policy Notice</vt:lpstr>
      <vt:lpstr>Agenda</vt:lpstr>
      <vt:lpstr>OpenChain Vision + Mission</vt:lpstr>
      <vt:lpstr>Our Mental Model Of The Supply Chain</vt:lpstr>
      <vt:lpstr>PowerPoint Presentation</vt:lpstr>
      <vt:lpstr>The Actual Supply Chain</vt:lpstr>
      <vt:lpstr>Security Assurance Is Increasingly Urgent</vt:lpstr>
      <vt:lpstr>Global Codebase Statistics</vt:lpstr>
      <vt:lpstr>We Needed To Improve Trust In The Supply Chain</vt:lpstr>
      <vt:lpstr>Projects Working On This Emerged…</vt:lpstr>
      <vt:lpstr>OpenChain Makes Guides, Specs, Standards… +</vt:lpstr>
      <vt:lpstr>We Provide A High Level Process Solution</vt:lpstr>
      <vt:lpstr>Trust Built By Process Management</vt:lpstr>
      <vt:lpstr>We Have Free Reference Material</vt:lpstr>
      <vt:lpstr>Our standards are the international baseline for quality in open source license compliance and security assurance programs.  Our guides and reference material helps people solve compliance challenges.  Our community provides a space to share knowledge.</vt:lpstr>
      <vt:lpstr>Evolution in Practice  Recent updates</vt:lpstr>
      <vt:lpstr>PowerPoint Presentation</vt:lpstr>
      <vt:lpstr>Addressing the CRA (Regulation (EU) 2024/2847) </vt:lpstr>
      <vt:lpstr>Cross-Industry SBOM Quality Guide Concept</vt:lpstr>
      <vt:lpstr>OpenChain Project 2.0 is coming!</vt:lpstr>
      <vt:lpstr>Support Network</vt:lpstr>
      <vt:lpstr>Our Community Work Groups</vt:lpstr>
      <vt:lpstr>25 Global Ambassadors Supporting Our Work</vt:lpstr>
      <vt:lpstr>We Have Commercial Support</vt:lpstr>
      <vt:lpstr>You Are The Community</vt:lpstr>
      <vt:lpstr>Everyone Is Always Welcome!</vt:lpstr>
      <vt:lpstr>OpenChain Southeast Asia Work Group</vt:lpstr>
      <vt:lpstr>Follow and Participate</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王 建民</cp:lastModifiedBy>
  <cp:revision>277</cp:revision>
  <dcterms:modified xsi:type="dcterms:W3CDTF">2026-10-22T14:47:53Z</dcterms:modified>
</cp:coreProperties>
</file>